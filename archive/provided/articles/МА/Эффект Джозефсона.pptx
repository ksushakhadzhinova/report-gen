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</p:sldIdLst>
  <p:sldSz cx="18288000" cy="10287000"/>
  <p:notesSz cx="6858000" cy="9144000"/>
  <p:embeddedFontLst>
    <p:embeddedFont>
      <p:font typeface="Canva Sans" panose="020B0604020202020204" charset="0"/>
      <p:regular r:id="rId37"/>
    </p:embeddedFont>
    <p:embeddedFont>
      <p:font typeface="Canva Sans Bold" panose="020B0604020202020204" charset="0"/>
      <p:regular r:id="rId38"/>
    </p:embeddedFont>
    <p:embeddedFont>
      <p:font typeface="Eczar Bold" panose="020B0604020202020204" charset="0"/>
      <p:regular r:id="rId39"/>
    </p:embeddedFont>
    <p:embeddedFont>
      <p:font typeface="Eczar Semi-Bold" panose="020B0604020202020204" charset="0"/>
      <p:regular r:id="rId40"/>
    </p:embeddedFont>
    <p:embeddedFont>
      <p:font typeface="Noticia Text" panose="020B0604020202020204" charset="0"/>
      <p:regular r:id="rId41"/>
    </p:embeddedFont>
    <p:embeddedFont>
      <p:font typeface="Noticia Text Bold" panose="020B0604020202020204" charset="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8" d="100"/>
          <a:sy n="18" d="100"/>
        </p:scale>
        <p:origin x="869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81901" y="1295289"/>
            <a:ext cx="15324198" cy="7696422"/>
            <a:chOff x="0" y="0"/>
            <a:chExt cx="5444956" cy="273467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44956" cy="2734674"/>
            </a:xfrm>
            <a:custGeom>
              <a:avLst/>
              <a:gdLst/>
              <a:ahLst/>
              <a:cxnLst/>
              <a:rect l="l" t="t" r="r" b="b"/>
              <a:pathLst>
                <a:path w="5444956" h="2734674">
                  <a:moveTo>
                    <a:pt x="10104" y="0"/>
                  </a:moveTo>
                  <a:lnTo>
                    <a:pt x="5434852" y="0"/>
                  </a:lnTo>
                  <a:cubicBezTo>
                    <a:pt x="5440433" y="0"/>
                    <a:pt x="5444956" y="4524"/>
                    <a:pt x="5444956" y="10104"/>
                  </a:cubicBezTo>
                  <a:lnTo>
                    <a:pt x="5444956" y="2724570"/>
                  </a:lnTo>
                  <a:cubicBezTo>
                    <a:pt x="5444956" y="2727249"/>
                    <a:pt x="5443892" y="2729819"/>
                    <a:pt x="5441997" y="2731714"/>
                  </a:cubicBezTo>
                  <a:cubicBezTo>
                    <a:pt x="5440102" y="2733609"/>
                    <a:pt x="5437532" y="2734674"/>
                    <a:pt x="5434852" y="2734674"/>
                  </a:cubicBezTo>
                  <a:lnTo>
                    <a:pt x="10104" y="2734674"/>
                  </a:lnTo>
                  <a:cubicBezTo>
                    <a:pt x="4524" y="2734674"/>
                    <a:pt x="0" y="2730150"/>
                    <a:pt x="0" y="2724570"/>
                  </a:cubicBezTo>
                  <a:lnTo>
                    <a:pt x="0" y="10104"/>
                  </a:lnTo>
                  <a:cubicBezTo>
                    <a:pt x="0" y="4524"/>
                    <a:pt x="4524" y="0"/>
                    <a:pt x="10104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5444956" cy="2763249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6382">
            <a:off x="2351851" y="2176273"/>
            <a:ext cx="13584298" cy="5171526"/>
            <a:chOff x="0" y="0"/>
            <a:chExt cx="1511107" cy="5752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11107" cy="575277"/>
            </a:xfrm>
            <a:custGeom>
              <a:avLst/>
              <a:gdLst/>
              <a:ahLst/>
              <a:cxnLst/>
              <a:rect l="l" t="t" r="r" b="b"/>
              <a:pathLst>
                <a:path w="1511107" h="575277">
                  <a:moveTo>
                    <a:pt x="11398" y="0"/>
                  </a:moveTo>
                  <a:lnTo>
                    <a:pt x="1499708" y="0"/>
                  </a:lnTo>
                  <a:cubicBezTo>
                    <a:pt x="1502731" y="0"/>
                    <a:pt x="1505631" y="1201"/>
                    <a:pt x="1507768" y="3338"/>
                  </a:cubicBezTo>
                  <a:cubicBezTo>
                    <a:pt x="1509906" y="5476"/>
                    <a:pt x="1511107" y="8375"/>
                    <a:pt x="1511107" y="11398"/>
                  </a:cubicBezTo>
                  <a:lnTo>
                    <a:pt x="1511107" y="563878"/>
                  </a:lnTo>
                  <a:cubicBezTo>
                    <a:pt x="1511107" y="570173"/>
                    <a:pt x="1506004" y="575277"/>
                    <a:pt x="1499708" y="575277"/>
                  </a:cubicBezTo>
                  <a:lnTo>
                    <a:pt x="11398" y="575277"/>
                  </a:lnTo>
                  <a:cubicBezTo>
                    <a:pt x="5103" y="575277"/>
                    <a:pt x="0" y="570173"/>
                    <a:pt x="0" y="563878"/>
                  </a:cubicBezTo>
                  <a:lnTo>
                    <a:pt x="0" y="11398"/>
                  </a:lnTo>
                  <a:cubicBezTo>
                    <a:pt x="0" y="5103"/>
                    <a:pt x="5103" y="0"/>
                    <a:pt x="11398" y="0"/>
                  </a:cubicBezTo>
                  <a:close/>
                </a:path>
              </a:pathLst>
            </a:custGeom>
            <a:solidFill>
              <a:srgbClr val="CCADCC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511107" cy="622902"/>
            </a:xfrm>
            <a:prstGeom prst="rect">
              <a:avLst/>
            </a:prstGeom>
          </p:spPr>
          <p:txBody>
            <a:bodyPr lIns="49938" tIns="49938" rIns="49938" bIns="49938" rtlCol="0" anchor="ctr"/>
            <a:lstStyle/>
            <a:p>
              <a:pPr algn="ctr">
                <a:lnSpc>
                  <a:spcPts val="358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6382">
            <a:off x="2743201" y="2592274"/>
            <a:ext cx="12801516" cy="4350147"/>
            <a:chOff x="0" y="0"/>
            <a:chExt cx="1424031" cy="4839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24031" cy="483907"/>
            </a:xfrm>
            <a:custGeom>
              <a:avLst/>
              <a:gdLst/>
              <a:ahLst/>
              <a:cxnLst/>
              <a:rect l="l" t="t" r="r" b="b"/>
              <a:pathLst>
                <a:path w="1424031" h="483907">
                  <a:moveTo>
                    <a:pt x="12095" y="0"/>
                  </a:moveTo>
                  <a:lnTo>
                    <a:pt x="1411935" y="0"/>
                  </a:lnTo>
                  <a:cubicBezTo>
                    <a:pt x="1418615" y="0"/>
                    <a:pt x="1424031" y="5415"/>
                    <a:pt x="1424031" y="12095"/>
                  </a:cubicBezTo>
                  <a:lnTo>
                    <a:pt x="1424031" y="471812"/>
                  </a:lnTo>
                  <a:cubicBezTo>
                    <a:pt x="1424031" y="478492"/>
                    <a:pt x="1418615" y="483907"/>
                    <a:pt x="1411935" y="483907"/>
                  </a:cubicBezTo>
                  <a:lnTo>
                    <a:pt x="12095" y="483907"/>
                  </a:lnTo>
                  <a:cubicBezTo>
                    <a:pt x="5415" y="483907"/>
                    <a:pt x="0" y="478492"/>
                    <a:pt x="0" y="471812"/>
                  </a:cubicBezTo>
                  <a:lnTo>
                    <a:pt x="0" y="12095"/>
                  </a:lnTo>
                  <a:cubicBezTo>
                    <a:pt x="0" y="5415"/>
                    <a:pt x="5415" y="0"/>
                    <a:pt x="12095" y="0"/>
                  </a:cubicBezTo>
                  <a:close/>
                </a:path>
              </a:pathLst>
            </a:custGeom>
            <a:solidFill>
              <a:srgbClr val="FFFBEF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424031" cy="531532"/>
            </a:xfrm>
            <a:prstGeom prst="rect">
              <a:avLst/>
            </a:prstGeom>
          </p:spPr>
          <p:txBody>
            <a:bodyPr lIns="49938" tIns="49938" rIns="49938" bIns="49938" rtlCol="0" anchor="ctr"/>
            <a:lstStyle/>
            <a:p>
              <a:pPr algn="ctr">
                <a:lnSpc>
                  <a:spcPts val="358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26698" y="2810670"/>
            <a:ext cx="12834523" cy="399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65"/>
              </a:lnSpc>
            </a:pPr>
            <a:r>
              <a:rPr lang="en-US" sz="6024">
                <a:solidFill>
                  <a:srgbClr val="231F20"/>
                </a:solidFill>
                <a:latin typeface="Eczar Semi-Bold"/>
              </a:rPr>
              <a:t>ПРИМЕНЕНИЕ ЭФФЕКТА ДЖОЗЕФСОНА В СОВРЕМЕННЫХ ИНФОРМАЦИОННЫХ ТЕХНОЛОГИЯХ И КВАНТОВЫХ КОМПЬЮТЕРАХ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5603" y="1383952"/>
            <a:ext cx="998553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31F20"/>
                </a:solidFill>
                <a:latin typeface="Noticia Text"/>
              </a:rPr>
              <a:t>Подготовила студент гр. 328506 К.А. Хаджинова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1860" y="7923723"/>
            <a:ext cx="15324198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231F20"/>
                </a:solidFill>
                <a:latin typeface="Canva Sans"/>
              </a:rPr>
              <a:t>Научный руководитель:  Цегельник В.В. – доктор.физ-мат.наук, профессор кафедры ВМ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-2463183" y="4601950"/>
            <a:ext cx="23331207" cy="136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219"/>
              </a:lnSpc>
            </a:pPr>
            <a:r>
              <a:rPr lang="en-US" sz="10219">
                <a:solidFill>
                  <a:srgbClr val="231F20"/>
                </a:solidFill>
                <a:latin typeface="Eczar Semi-Bold"/>
              </a:rPr>
              <a:t>История открытия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2785" y="2801472"/>
            <a:ext cx="12185477" cy="5666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5904" lvl="1" indent="-602952">
              <a:lnSpc>
                <a:spcPts val="5585"/>
              </a:lnSpc>
              <a:buFont typeface="Arial"/>
              <a:buChar char="•"/>
            </a:pPr>
            <a:r>
              <a:rPr lang="en-US" sz="5585">
                <a:solidFill>
                  <a:srgbClr val="231F20"/>
                </a:solidFill>
                <a:latin typeface="Noticia Text Bold"/>
              </a:rPr>
              <a:t>Б. Д. Джозефсон</a:t>
            </a:r>
            <a:r>
              <a:rPr lang="en-US" sz="5585">
                <a:solidFill>
                  <a:srgbClr val="231F20"/>
                </a:solidFill>
                <a:latin typeface="Noticia Text"/>
              </a:rPr>
              <a:t> предсказал стационарный и нестационарный эффекты в контакте сверхпроводник-диэлектрик-сверхпроводник</a:t>
            </a:r>
          </a:p>
          <a:p>
            <a:pPr>
              <a:lnSpc>
                <a:spcPts val="5585"/>
              </a:lnSpc>
            </a:pPr>
            <a:endParaRPr lang="en-US" sz="5585">
              <a:solidFill>
                <a:srgbClr val="231F20"/>
              </a:solidFill>
              <a:latin typeface="Noticia Text"/>
            </a:endParaRPr>
          </a:p>
          <a:p>
            <a:pPr marL="1205904" lvl="1" indent="-602952">
              <a:lnSpc>
                <a:spcPts val="5585"/>
              </a:lnSpc>
              <a:buFont typeface="Arial"/>
              <a:buChar char="•"/>
            </a:pPr>
            <a:r>
              <a:rPr lang="en-US" sz="5585">
                <a:solidFill>
                  <a:srgbClr val="231F20"/>
                </a:solidFill>
                <a:latin typeface="Noticia Text"/>
              </a:rPr>
              <a:t>Теория сверхпроводимости</a:t>
            </a:r>
            <a:r>
              <a:rPr lang="en-US" sz="5585">
                <a:solidFill>
                  <a:srgbClr val="231F20"/>
                </a:solidFill>
                <a:latin typeface="Noticia Text Bold"/>
              </a:rPr>
              <a:t> Бандина-Купера-Шриффера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2982246" y="2687172"/>
            <a:ext cx="4277054" cy="5926840"/>
            <a:chOff x="0" y="0"/>
            <a:chExt cx="4734560" cy="6560820"/>
          </a:xfrm>
        </p:grpSpPr>
        <p:sp>
          <p:nvSpPr>
            <p:cNvPr id="7" name="Freeform 7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565656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2"/>
              <a:stretch>
                <a:fillRect l="-21823" r="-21823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E9E8E9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7483745" y="1123418"/>
            <a:ext cx="3320510" cy="71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9"/>
              </a:lnSpc>
            </a:pPr>
            <a:r>
              <a:rPr lang="en-US" sz="8499">
                <a:solidFill>
                  <a:srgbClr val="231F20"/>
                </a:solidFill>
                <a:latin typeface="Noticia Text Bold"/>
              </a:rPr>
              <a:t>1962 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1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FFBE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33292" y="4029533"/>
            <a:ext cx="9874600" cy="159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4"/>
              </a:lnSpc>
            </a:pPr>
            <a:r>
              <a:rPr lang="en-US" sz="6174" dirty="0" err="1">
                <a:solidFill>
                  <a:srgbClr val="231F20"/>
                </a:solidFill>
                <a:latin typeface="Noticia Text Bold"/>
              </a:rPr>
              <a:t>Экспериментальное</a:t>
            </a:r>
            <a:r>
              <a:rPr lang="en-US" sz="6174" dirty="0">
                <a:solidFill>
                  <a:srgbClr val="231F20"/>
                </a:solidFill>
                <a:latin typeface="Noticia Text Bold"/>
              </a:rPr>
              <a:t> </a:t>
            </a:r>
          </a:p>
          <a:p>
            <a:pPr algn="ctr">
              <a:lnSpc>
                <a:spcPts val="6174"/>
              </a:lnSpc>
              <a:spcBef>
                <a:spcPct val="0"/>
              </a:spcBef>
            </a:pPr>
            <a:r>
              <a:rPr lang="en-US" sz="6174" dirty="0" err="1">
                <a:solidFill>
                  <a:srgbClr val="231F20"/>
                </a:solidFill>
                <a:latin typeface="Noticia Text Bold"/>
              </a:rPr>
              <a:t>подтверждение</a:t>
            </a:r>
            <a:r>
              <a:rPr lang="en-US" sz="6174" dirty="0">
                <a:solidFill>
                  <a:srgbClr val="231F20"/>
                </a:solidFill>
                <a:latin typeface="Noticia Text Bold"/>
              </a:rPr>
              <a:t> 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1498" y="8238689"/>
            <a:ext cx="327124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1F20"/>
                </a:solidFill>
                <a:latin typeface="Noticia Text Bold"/>
              </a:rPr>
              <a:t>Ф. Андерсон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11498" y="2667172"/>
            <a:ext cx="4075628" cy="5647718"/>
            <a:chOff x="0" y="0"/>
            <a:chExt cx="4734560" cy="6560820"/>
          </a:xfrm>
        </p:grpSpPr>
        <p:sp>
          <p:nvSpPr>
            <p:cNvPr id="8" name="Freeform 8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565656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2"/>
              <a:stretch>
                <a:fillRect l="-3508" r="-350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E9E8E9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13654059" y="2667172"/>
            <a:ext cx="4075628" cy="5647718"/>
            <a:chOff x="0" y="0"/>
            <a:chExt cx="4734560" cy="6560820"/>
          </a:xfrm>
        </p:grpSpPr>
        <p:sp>
          <p:nvSpPr>
            <p:cNvPr id="20" name="Freeform 20"/>
            <p:cNvSpPr/>
            <p:nvPr/>
          </p:nvSpPr>
          <p:spPr>
            <a:xfrm>
              <a:off x="36830" y="50800"/>
              <a:ext cx="4645660" cy="6473190"/>
            </a:xfrm>
            <a:custGeom>
              <a:avLst/>
              <a:gdLst/>
              <a:ahLst/>
              <a:cxnLst/>
              <a:rect l="l" t="t" r="r" b="b"/>
              <a:pathLst>
                <a:path w="4645660" h="6473190">
                  <a:moveTo>
                    <a:pt x="4368800" y="0"/>
                  </a:moveTo>
                  <a:lnTo>
                    <a:pt x="276860" y="0"/>
                  </a:lnTo>
                  <a:cubicBezTo>
                    <a:pt x="124460" y="0"/>
                    <a:pt x="0" y="123190"/>
                    <a:pt x="0" y="276860"/>
                  </a:cubicBezTo>
                  <a:lnTo>
                    <a:pt x="0" y="6196330"/>
                  </a:lnTo>
                  <a:cubicBezTo>
                    <a:pt x="0" y="6350000"/>
                    <a:pt x="124460" y="6473190"/>
                    <a:pt x="276860" y="6473190"/>
                  </a:cubicBezTo>
                  <a:lnTo>
                    <a:pt x="4368800" y="6473190"/>
                  </a:lnTo>
                  <a:cubicBezTo>
                    <a:pt x="4522470" y="6473190"/>
                    <a:pt x="4645660" y="6348730"/>
                    <a:pt x="4645660" y="6196330"/>
                  </a:cubicBezTo>
                  <a:lnTo>
                    <a:pt x="4645660" y="276860"/>
                  </a:lnTo>
                  <a:cubicBezTo>
                    <a:pt x="4645660" y="123190"/>
                    <a:pt x="4522470" y="0"/>
                    <a:pt x="4368800" y="0"/>
                  </a:cubicBezTo>
                  <a:close/>
                  <a:moveTo>
                    <a:pt x="4425950" y="6156960"/>
                  </a:moveTo>
                  <a:cubicBezTo>
                    <a:pt x="4425950" y="6212840"/>
                    <a:pt x="4380230" y="6258560"/>
                    <a:pt x="4324350" y="6258560"/>
                  </a:cubicBezTo>
                  <a:lnTo>
                    <a:pt x="321310" y="6258560"/>
                  </a:lnTo>
                  <a:cubicBezTo>
                    <a:pt x="265430" y="6258560"/>
                    <a:pt x="219710" y="6212840"/>
                    <a:pt x="219710" y="6156960"/>
                  </a:cubicBezTo>
                  <a:lnTo>
                    <a:pt x="219710" y="316230"/>
                  </a:lnTo>
                  <a:cubicBezTo>
                    <a:pt x="219710" y="260350"/>
                    <a:pt x="265430" y="214630"/>
                    <a:pt x="321310" y="214630"/>
                  </a:cubicBezTo>
                  <a:lnTo>
                    <a:pt x="4325620" y="214630"/>
                  </a:lnTo>
                  <a:cubicBezTo>
                    <a:pt x="4381500" y="214630"/>
                    <a:pt x="4427220" y="260350"/>
                    <a:pt x="4427220" y="316230"/>
                  </a:cubicBezTo>
                  <a:lnTo>
                    <a:pt x="4427220" y="6156960"/>
                  </a:ln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6511"/>
              <a:ext cx="4716780" cy="6544310"/>
            </a:xfrm>
            <a:custGeom>
              <a:avLst/>
              <a:gdLst/>
              <a:ahLst/>
              <a:cxnLst/>
              <a:rect l="l" t="t" r="r" b="b"/>
              <a:pathLst>
                <a:path w="4716780" h="6544310">
                  <a:moveTo>
                    <a:pt x="4395470" y="36829"/>
                  </a:moveTo>
                  <a:cubicBezTo>
                    <a:pt x="4552950" y="36829"/>
                    <a:pt x="4681220" y="165099"/>
                    <a:pt x="4681220" y="322579"/>
                  </a:cubicBezTo>
                  <a:lnTo>
                    <a:pt x="4681220" y="6222999"/>
                  </a:lnTo>
                  <a:cubicBezTo>
                    <a:pt x="4681220" y="6380479"/>
                    <a:pt x="4552950" y="6508750"/>
                    <a:pt x="4395470" y="6508750"/>
                  </a:cubicBezTo>
                  <a:lnTo>
                    <a:pt x="321310" y="6508750"/>
                  </a:lnTo>
                  <a:cubicBezTo>
                    <a:pt x="163830" y="6508750"/>
                    <a:pt x="35560" y="6380480"/>
                    <a:pt x="35560" y="6223000"/>
                  </a:cubicBezTo>
                  <a:lnTo>
                    <a:pt x="35560" y="322580"/>
                  </a:lnTo>
                  <a:cubicBezTo>
                    <a:pt x="35560" y="165100"/>
                    <a:pt x="163830" y="36830"/>
                    <a:pt x="321310" y="36830"/>
                  </a:cubicBezTo>
                  <a:lnTo>
                    <a:pt x="4395470" y="36830"/>
                  </a:lnTo>
                  <a:moveTo>
                    <a:pt x="4395470" y="0"/>
                  </a:moveTo>
                  <a:lnTo>
                    <a:pt x="321310" y="0"/>
                  </a:lnTo>
                  <a:cubicBezTo>
                    <a:pt x="143510" y="0"/>
                    <a:pt x="0" y="144780"/>
                    <a:pt x="0" y="322580"/>
                  </a:cubicBezTo>
                  <a:lnTo>
                    <a:pt x="0" y="6223000"/>
                  </a:lnTo>
                  <a:cubicBezTo>
                    <a:pt x="0" y="6400800"/>
                    <a:pt x="143510" y="6544309"/>
                    <a:pt x="321310" y="6544309"/>
                  </a:cubicBezTo>
                  <a:lnTo>
                    <a:pt x="4395470" y="6544309"/>
                  </a:lnTo>
                  <a:cubicBezTo>
                    <a:pt x="4573270" y="6544309"/>
                    <a:pt x="4716780" y="6400800"/>
                    <a:pt x="4716780" y="6223000"/>
                  </a:cubicBezTo>
                  <a:lnTo>
                    <a:pt x="4716780" y="322580"/>
                  </a:lnTo>
                  <a:cubicBezTo>
                    <a:pt x="4716780" y="144780"/>
                    <a:pt x="4573270" y="0"/>
                    <a:pt x="4395470" y="0"/>
                  </a:cubicBezTo>
                  <a:close/>
                </a:path>
              </a:pathLst>
            </a:custGeom>
            <a:solidFill>
              <a:srgbClr val="565656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56540" y="265430"/>
              <a:ext cx="4207510" cy="6043930"/>
            </a:xfrm>
            <a:custGeom>
              <a:avLst/>
              <a:gdLst/>
              <a:ahLst/>
              <a:cxnLst/>
              <a:rect l="l" t="t" r="r" b="b"/>
              <a:pathLst>
                <a:path w="4207510" h="6043930">
                  <a:moveTo>
                    <a:pt x="4206240" y="5942330"/>
                  </a:moveTo>
                  <a:cubicBezTo>
                    <a:pt x="4206240" y="5998210"/>
                    <a:pt x="4160520" y="6043930"/>
                    <a:pt x="4104640" y="6043930"/>
                  </a:cubicBezTo>
                  <a:lnTo>
                    <a:pt x="101600" y="6043930"/>
                  </a:lnTo>
                  <a:cubicBezTo>
                    <a:pt x="45720" y="6043930"/>
                    <a:pt x="0" y="5998210"/>
                    <a:pt x="0" y="5942330"/>
                  </a:cubicBezTo>
                  <a:lnTo>
                    <a:pt x="0" y="101600"/>
                  </a:lnTo>
                  <a:cubicBezTo>
                    <a:pt x="0" y="45720"/>
                    <a:pt x="45720" y="0"/>
                    <a:pt x="101600" y="0"/>
                  </a:cubicBezTo>
                  <a:lnTo>
                    <a:pt x="4105910" y="0"/>
                  </a:lnTo>
                  <a:cubicBezTo>
                    <a:pt x="4161790" y="0"/>
                    <a:pt x="4207510" y="45720"/>
                    <a:pt x="4207510" y="101600"/>
                  </a:cubicBezTo>
                  <a:lnTo>
                    <a:pt x="4207510" y="5942330"/>
                  </a:lnTo>
                  <a:close/>
                </a:path>
              </a:pathLst>
            </a:custGeom>
            <a:blipFill>
              <a:blip r:embed="rId3"/>
              <a:stretch>
                <a:fillRect l="-3388" r="-3388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1951378" y="120589"/>
              <a:ext cx="79963" cy="76322"/>
            </a:xfrm>
            <a:custGeom>
              <a:avLst/>
              <a:gdLst/>
              <a:ahLst/>
              <a:cxnLst/>
              <a:rect l="l" t="t" r="r" b="b"/>
              <a:pathLst>
                <a:path w="79963" h="76322">
                  <a:moveTo>
                    <a:pt x="39982" y="61"/>
                  </a:moveTo>
                  <a:cubicBezTo>
                    <a:pt x="26330" y="0"/>
                    <a:pt x="13688" y="7248"/>
                    <a:pt x="6844" y="19062"/>
                  </a:cubicBezTo>
                  <a:cubicBezTo>
                    <a:pt x="0" y="30875"/>
                    <a:pt x="0" y="45447"/>
                    <a:pt x="6844" y="57260"/>
                  </a:cubicBezTo>
                  <a:cubicBezTo>
                    <a:pt x="13688" y="69074"/>
                    <a:pt x="26330" y="76322"/>
                    <a:pt x="39982" y="76261"/>
                  </a:cubicBezTo>
                  <a:cubicBezTo>
                    <a:pt x="53634" y="76322"/>
                    <a:pt x="66276" y="69074"/>
                    <a:pt x="73120" y="57260"/>
                  </a:cubicBezTo>
                  <a:cubicBezTo>
                    <a:pt x="79964" y="45447"/>
                    <a:pt x="79964" y="30875"/>
                    <a:pt x="73120" y="19062"/>
                  </a:cubicBezTo>
                  <a:cubicBezTo>
                    <a:pt x="66276" y="7248"/>
                    <a:pt x="53634" y="0"/>
                    <a:pt x="39982" y="61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119473" y="104052"/>
              <a:ext cx="114614" cy="109395"/>
            </a:xfrm>
            <a:custGeom>
              <a:avLst/>
              <a:gdLst/>
              <a:ahLst/>
              <a:cxnLst/>
              <a:rect l="l" t="t" r="r" b="b"/>
              <a:pathLst>
                <a:path w="114614" h="109395">
                  <a:moveTo>
                    <a:pt x="57307" y="88"/>
                  </a:moveTo>
                  <a:cubicBezTo>
                    <a:pt x="37739" y="0"/>
                    <a:pt x="19619" y="10390"/>
                    <a:pt x="9809" y="27322"/>
                  </a:cubicBezTo>
                  <a:cubicBezTo>
                    <a:pt x="0" y="44255"/>
                    <a:pt x="0" y="65141"/>
                    <a:pt x="9809" y="82074"/>
                  </a:cubicBezTo>
                  <a:cubicBezTo>
                    <a:pt x="19619" y="99006"/>
                    <a:pt x="37739" y="109396"/>
                    <a:pt x="57307" y="109308"/>
                  </a:cubicBezTo>
                  <a:cubicBezTo>
                    <a:pt x="76875" y="109396"/>
                    <a:pt x="94995" y="99006"/>
                    <a:pt x="104804" y="82074"/>
                  </a:cubicBezTo>
                  <a:cubicBezTo>
                    <a:pt x="114614" y="65141"/>
                    <a:pt x="114614" y="44255"/>
                    <a:pt x="104804" y="27322"/>
                  </a:cubicBezTo>
                  <a:cubicBezTo>
                    <a:pt x="94995" y="10390"/>
                    <a:pt x="76875" y="0"/>
                    <a:pt x="57307" y="88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328944" y="128221"/>
              <a:ext cx="63971" cy="61058"/>
            </a:xfrm>
            <a:custGeom>
              <a:avLst/>
              <a:gdLst/>
              <a:ahLst/>
              <a:cxnLst/>
              <a:rect l="l" t="t" r="r" b="b"/>
              <a:pathLst>
                <a:path w="63971" h="61058">
                  <a:moveTo>
                    <a:pt x="31986" y="49"/>
                  </a:moveTo>
                  <a:cubicBezTo>
                    <a:pt x="21064" y="0"/>
                    <a:pt x="10951" y="5799"/>
                    <a:pt x="5476" y="15250"/>
                  </a:cubicBezTo>
                  <a:cubicBezTo>
                    <a:pt x="0" y="24700"/>
                    <a:pt x="0" y="36358"/>
                    <a:pt x="5476" y="45808"/>
                  </a:cubicBezTo>
                  <a:cubicBezTo>
                    <a:pt x="10951" y="55259"/>
                    <a:pt x="21064" y="61058"/>
                    <a:pt x="31986" y="61009"/>
                  </a:cubicBezTo>
                  <a:cubicBezTo>
                    <a:pt x="42908" y="61058"/>
                    <a:pt x="53021" y="55259"/>
                    <a:pt x="58496" y="45808"/>
                  </a:cubicBezTo>
                  <a:cubicBezTo>
                    <a:pt x="63971" y="36358"/>
                    <a:pt x="63971" y="24700"/>
                    <a:pt x="58496" y="15250"/>
                  </a:cubicBezTo>
                  <a:cubicBezTo>
                    <a:pt x="53021" y="5799"/>
                    <a:pt x="42908" y="0"/>
                    <a:pt x="31986" y="49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346270" y="144758"/>
              <a:ext cx="29320" cy="27985"/>
            </a:xfrm>
            <a:custGeom>
              <a:avLst/>
              <a:gdLst/>
              <a:ahLst/>
              <a:cxnLst/>
              <a:rect l="l" t="t" r="r" b="b"/>
              <a:pathLst>
                <a:path w="29320" h="27985">
                  <a:moveTo>
                    <a:pt x="14660" y="22"/>
                  </a:moveTo>
                  <a:cubicBezTo>
                    <a:pt x="9654" y="0"/>
                    <a:pt x="5019" y="2657"/>
                    <a:pt x="2509" y="6989"/>
                  </a:cubicBezTo>
                  <a:cubicBezTo>
                    <a:pt x="0" y="11320"/>
                    <a:pt x="0" y="16664"/>
                    <a:pt x="2509" y="20995"/>
                  </a:cubicBezTo>
                  <a:cubicBezTo>
                    <a:pt x="5019" y="25327"/>
                    <a:pt x="9654" y="27984"/>
                    <a:pt x="14660" y="27962"/>
                  </a:cubicBezTo>
                  <a:cubicBezTo>
                    <a:pt x="19666" y="27984"/>
                    <a:pt x="24301" y="25327"/>
                    <a:pt x="26811" y="20995"/>
                  </a:cubicBezTo>
                  <a:cubicBezTo>
                    <a:pt x="29320" y="16664"/>
                    <a:pt x="29320" y="11320"/>
                    <a:pt x="26811" y="6989"/>
                  </a:cubicBezTo>
                  <a:cubicBezTo>
                    <a:pt x="24301" y="2657"/>
                    <a:pt x="19666" y="0"/>
                    <a:pt x="14660" y="22"/>
                  </a:cubicBezTo>
                  <a:close/>
                </a:path>
              </a:pathLst>
            </a:custGeom>
            <a:solidFill>
              <a:srgbClr val="E9E8E9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344044" y="144768"/>
              <a:ext cx="15993" cy="15264"/>
            </a:xfrm>
            <a:custGeom>
              <a:avLst/>
              <a:gdLst/>
              <a:ahLst/>
              <a:cxnLst/>
              <a:rect l="l" t="t" r="r" b="b"/>
              <a:pathLst>
                <a:path w="15993" h="15264">
                  <a:moveTo>
                    <a:pt x="7996" y="12"/>
                  </a:moveTo>
                  <a:cubicBezTo>
                    <a:pt x="5266" y="0"/>
                    <a:pt x="2737" y="1449"/>
                    <a:pt x="1368" y="3812"/>
                  </a:cubicBezTo>
                  <a:cubicBezTo>
                    <a:pt x="0" y="6175"/>
                    <a:pt x="0" y="9089"/>
                    <a:pt x="1368" y="11452"/>
                  </a:cubicBezTo>
                  <a:cubicBezTo>
                    <a:pt x="2737" y="13815"/>
                    <a:pt x="5266" y="15264"/>
                    <a:pt x="7996" y="15252"/>
                  </a:cubicBezTo>
                  <a:cubicBezTo>
                    <a:pt x="10726" y="15264"/>
                    <a:pt x="13255" y="13815"/>
                    <a:pt x="14623" y="11452"/>
                  </a:cubicBezTo>
                  <a:cubicBezTo>
                    <a:pt x="15992" y="9089"/>
                    <a:pt x="15992" y="6175"/>
                    <a:pt x="14623" y="3812"/>
                  </a:cubicBezTo>
                  <a:cubicBezTo>
                    <a:pt x="13255" y="1449"/>
                    <a:pt x="10726" y="0"/>
                    <a:pt x="7996" y="12"/>
                  </a:cubicBezTo>
                  <a:close/>
                </a:path>
              </a:pathLst>
            </a:custGeom>
            <a:solidFill>
              <a:srgbClr val="010101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4716780" y="53467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4716780" y="861060"/>
              <a:ext cx="19050" cy="278130"/>
            </a:xfrm>
            <a:custGeom>
              <a:avLst/>
              <a:gdLst/>
              <a:ahLst/>
              <a:cxnLst/>
              <a:rect l="l" t="t" r="r" b="b"/>
              <a:pathLst>
                <a:path w="19050" h="278130">
                  <a:moveTo>
                    <a:pt x="0" y="0"/>
                  </a:moveTo>
                  <a:lnTo>
                    <a:pt x="0" y="278130"/>
                  </a:lnTo>
                  <a:cubicBezTo>
                    <a:pt x="19050" y="278130"/>
                    <a:pt x="16510" y="262890"/>
                    <a:pt x="16510" y="243840"/>
                  </a:cubicBezTo>
                  <a:lnTo>
                    <a:pt x="16510" y="35560"/>
                  </a:lnTo>
                  <a:cubicBezTo>
                    <a:pt x="16510" y="16510"/>
                    <a:pt x="19050" y="0"/>
                    <a:pt x="0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4064000" y="-2540"/>
              <a:ext cx="320040" cy="19050"/>
            </a:xfrm>
            <a:custGeom>
              <a:avLst/>
              <a:gdLst/>
              <a:ahLst/>
              <a:cxnLst/>
              <a:rect l="l" t="t" r="r" b="b"/>
              <a:pathLst>
                <a:path w="320040" h="19050">
                  <a:moveTo>
                    <a:pt x="0" y="19050"/>
                  </a:moveTo>
                  <a:lnTo>
                    <a:pt x="320040" y="19050"/>
                  </a:lnTo>
                  <a:cubicBezTo>
                    <a:pt x="320040" y="0"/>
                    <a:pt x="304800" y="2540"/>
                    <a:pt x="285750" y="2540"/>
                  </a:cubicBezTo>
                  <a:lnTo>
                    <a:pt x="34290" y="2540"/>
                  </a:lnTo>
                  <a:cubicBezTo>
                    <a:pt x="15240" y="2540"/>
                    <a:pt x="0" y="0"/>
                    <a:pt x="0" y="1905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4783604" y="8238689"/>
            <a:ext cx="294608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1F20"/>
                </a:solidFill>
                <a:latin typeface="Noticia Text Bold"/>
              </a:rPr>
              <a:t>Дж. Роуэлл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10997" y="1123418"/>
            <a:ext cx="3266006" cy="717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49"/>
              </a:lnSpc>
            </a:pPr>
            <a:r>
              <a:rPr lang="en-US" sz="8499">
                <a:solidFill>
                  <a:srgbClr val="231F20"/>
                </a:solidFill>
                <a:latin typeface="Noticia Text Bold"/>
              </a:rPr>
              <a:t>1963 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4215230"/>
            <a:ext cx="18288000" cy="20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0"/>
              </a:lnSpc>
            </a:pPr>
            <a:r>
              <a:rPr lang="en-US" sz="8010">
                <a:solidFill>
                  <a:srgbClr val="231F20"/>
                </a:solidFill>
                <a:latin typeface="Eczar Semi-Bold"/>
              </a:rPr>
              <a:t>Что такое модель резистивного джозефсонского перехода?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AD1B4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9200" y="3467100"/>
            <a:ext cx="7761399" cy="4501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93"/>
              </a:lnSpc>
            </a:pP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простая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модель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,</a:t>
            </a:r>
          </a:p>
          <a:p>
            <a:pPr algn="just">
              <a:lnSpc>
                <a:spcPts val="3893"/>
              </a:lnSpc>
            </a:pPr>
            <a:endParaRPr lang="en-US" sz="3893" dirty="0">
              <a:solidFill>
                <a:srgbClr val="010101"/>
              </a:solidFill>
              <a:latin typeface="Noticia Text"/>
            </a:endParaRPr>
          </a:p>
          <a:p>
            <a:pPr algn="just">
              <a:lnSpc>
                <a:spcPts val="3893"/>
              </a:lnSpc>
            </a:pP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используемая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для</a:t>
            </a:r>
            <a:endParaRPr lang="en-US" sz="3893" dirty="0">
              <a:solidFill>
                <a:srgbClr val="010101"/>
              </a:solidFill>
              <a:latin typeface="Noticia Text"/>
            </a:endParaRPr>
          </a:p>
          <a:p>
            <a:pPr algn="just">
              <a:lnSpc>
                <a:spcPts val="3893"/>
              </a:lnSpc>
            </a:pP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описания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поведения</a:t>
            </a:r>
            <a:endParaRPr lang="en-US" sz="3893" dirty="0">
              <a:solidFill>
                <a:srgbClr val="010101"/>
              </a:solidFill>
              <a:latin typeface="Noticia Text"/>
            </a:endParaRPr>
          </a:p>
          <a:p>
            <a:pPr algn="just">
              <a:lnSpc>
                <a:spcPts val="3893"/>
              </a:lnSpc>
            </a:pPr>
            <a:r>
              <a:rPr lang="en-US" sz="3893" dirty="0" err="1">
                <a:solidFill>
                  <a:srgbClr val="010101"/>
                </a:solidFill>
                <a:latin typeface="Noticia Text Bold"/>
              </a:rPr>
              <a:t>сверхпроводящего</a:t>
            </a:r>
            <a:r>
              <a:rPr lang="en-US" sz="3893" dirty="0">
                <a:solidFill>
                  <a:srgbClr val="010101"/>
                </a:solidFill>
                <a:latin typeface="Noticia Text Bold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 Bold"/>
              </a:rPr>
              <a:t>джозефсонского</a:t>
            </a:r>
            <a:r>
              <a:rPr lang="en-US" sz="3893" dirty="0">
                <a:solidFill>
                  <a:srgbClr val="010101"/>
                </a:solidFill>
                <a:latin typeface="Noticia Text Bold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 Bold"/>
              </a:rPr>
              <a:t>перехода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,</a:t>
            </a:r>
          </a:p>
          <a:p>
            <a:pPr algn="just">
              <a:lnSpc>
                <a:spcPts val="3893"/>
              </a:lnSpc>
            </a:pPr>
            <a:endParaRPr lang="en-US" sz="3893" dirty="0">
              <a:solidFill>
                <a:srgbClr val="010101"/>
              </a:solidFill>
              <a:latin typeface="Noticia Text"/>
            </a:endParaRPr>
          </a:p>
          <a:p>
            <a:pPr>
              <a:lnSpc>
                <a:spcPts val="3893"/>
              </a:lnSpc>
              <a:spcBef>
                <a:spcPct val="0"/>
              </a:spcBef>
            </a:pP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когда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он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шунтируется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 </a:t>
            </a:r>
            <a:r>
              <a:rPr lang="en-US" sz="3893" dirty="0" err="1">
                <a:solidFill>
                  <a:srgbClr val="010101"/>
                </a:solidFill>
                <a:latin typeface="Noticia Text"/>
              </a:rPr>
              <a:t>сопротивлением</a:t>
            </a:r>
            <a:r>
              <a:rPr lang="en-US" sz="3893" dirty="0">
                <a:solidFill>
                  <a:srgbClr val="010101"/>
                </a:solidFill>
                <a:latin typeface="Noticia Text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>
            <a:off x="8372898" y="2601809"/>
            <a:ext cx="9356788" cy="7172861"/>
          </a:xfrm>
          <a:custGeom>
            <a:avLst/>
            <a:gdLst/>
            <a:ahLst/>
            <a:cxnLst/>
            <a:rect l="l" t="t" r="r" b="b"/>
            <a:pathLst>
              <a:path w="9356788" h="7172861">
                <a:moveTo>
                  <a:pt x="0" y="0"/>
                </a:moveTo>
                <a:lnTo>
                  <a:pt x="9356789" y="0"/>
                </a:lnTo>
                <a:lnTo>
                  <a:pt x="9356789" y="7172862"/>
                </a:lnTo>
                <a:lnTo>
                  <a:pt x="0" y="7172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2185" b="-317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4906" y="456668"/>
            <a:ext cx="17144781" cy="1917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32"/>
              </a:lnSpc>
              <a:spcBef>
                <a:spcPct val="0"/>
              </a:spcBef>
            </a:pPr>
            <a:r>
              <a:rPr lang="en-US" sz="5523">
                <a:solidFill>
                  <a:srgbClr val="231F20"/>
                </a:solidFill>
                <a:latin typeface="Eczar Bold"/>
              </a:rPr>
              <a:t>Резистивная модель (англ. Resistively Shunted Josephson Junction) это...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0F0F0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843214" y="2925372"/>
            <a:ext cx="5886473" cy="478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2514" lvl="1" indent="-361257" algn="r">
              <a:lnSpc>
                <a:spcPts val="4685"/>
              </a:lnSpc>
              <a:buFont typeface="Arial"/>
              <a:buChar char="•"/>
            </a:pP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это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позволяет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учитывать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потери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э</a:t>
            </a:r>
            <a:r>
              <a:rPr lang="ru-RU" sz="3346" dirty="0">
                <a:solidFill>
                  <a:srgbClr val="231F20"/>
                </a:solidFill>
                <a:latin typeface="Noticia Text"/>
              </a:rPr>
              <a:t>н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ергии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и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дисспацию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тока</a:t>
            </a:r>
            <a:endParaRPr lang="en-US" sz="3346" dirty="0">
              <a:solidFill>
                <a:srgbClr val="231F20"/>
              </a:solidFill>
              <a:latin typeface="Noticia Text"/>
            </a:endParaRPr>
          </a:p>
          <a:p>
            <a:pPr marL="722514" lvl="1" indent="-361257" algn="r">
              <a:lnSpc>
                <a:spcPts val="4685"/>
              </a:lnSpc>
              <a:buFont typeface="Arial"/>
              <a:buChar char="•"/>
            </a:pP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потери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могут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возникать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в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переходе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из-за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различных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факторов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(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тепловой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шум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,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флуктуации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46" dirty="0" err="1">
                <a:solidFill>
                  <a:srgbClr val="231F20"/>
                </a:solidFill>
                <a:latin typeface="Noticia Text"/>
              </a:rPr>
              <a:t>фазы</a:t>
            </a:r>
            <a:r>
              <a:rPr lang="en-US" sz="3346" dirty="0">
                <a:solidFill>
                  <a:srgbClr val="231F20"/>
                </a:solidFill>
                <a:latin typeface="Noticia Text"/>
              </a:rPr>
              <a:t>)</a:t>
            </a:r>
          </a:p>
          <a:p>
            <a:pPr algn="r">
              <a:lnSpc>
                <a:spcPts val="4685"/>
              </a:lnSpc>
              <a:spcBef>
                <a:spcPct val="0"/>
              </a:spcBef>
            </a:pPr>
            <a:endParaRPr lang="en-US" sz="3346" dirty="0">
              <a:solidFill>
                <a:srgbClr val="231F20"/>
              </a:solidFill>
              <a:latin typeface="Noticia Tex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900369" y="1616887"/>
            <a:ext cx="14855910" cy="128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21"/>
              </a:lnSpc>
            </a:pPr>
            <a:r>
              <a:rPr lang="en-US" sz="3321">
                <a:solidFill>
                  <a:srgbClr val="231F20"/>
                </a:solidFill>
                <a:latin typeface="Noticia Text Bold"/>
              </a:rPr>
              <a:t>комбинацией идеального сверхпроводящего элемента (конденсатора) и резистора, соединеных последовательно.</a:t>
            </a:r>
          </a:p>
          <a:p>
            <a:pPr algn="ctr">
              <a:lnSpc>
                <a:spcPts val="3321"/>
              </a:lnSpc>
            </a:pPr>
            <a:endParaRPr lang="en-US" sz="3321">
              <a:solidFill>
                <a:srgbClr val="231F20"/>
              </a:solidFill>
              <a:latin typeface="Noticia Text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14198" y="3087046"/>
            <a:ext cx="11223320" cy="5453395"/>
          </a:xfrm>
          <a:custGeom>
            <a:avLst/>
            <a:gdLst/>
            <a:ahLst/>
            <a:cxnLst/>
            <a:rect l="l" t="t" r="r" b="b"/>
            <a:pathLst>
              <a:path w="11223320" h="5453395">
                <a:moveTo>
                  <a:pt x="0" y="0"/>
                </a:moveTo>
                <a:lnTo>
                  <a:pt x="11223320" y="0"/>
                </a:lnTo>
                <a:lnTo>
                  <a:pt x="11223320" y="5453396"/>
                </a:lnTo>
                <a:lnTo>
                  <a:pt x="0" y="5453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757" t="-201579" r="-14129" b="-545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1498" y="474008"/>
            <a:ext cx="17144781" cy="99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152"/>
              </a:lnSpc>
              <a:spcBef>
                <a:spcPct val="0"/>
              </a:spcBef>
            </a:pPr>
            <a:r>
              <a:rPr lang="en-US" sz="5823">
                <a:solidFill>
                  <a:srgbClr val="231F20"/>
                </a:solidFill>
                <a:latin typeface="Eczar Semi-Bold"/>
              </a:rPr>
              <a:t>Переход представляется...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76240" y="7257003"/>
            <a:ext cx="13335521" cy="1725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0"/>
              </a:lnSpc>
            </a:pP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где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I –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ток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через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переход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,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Ic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–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критический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ток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, φ –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разность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фаз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волновых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функций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сверхпроводников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, V –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напряжение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на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переходе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, R –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сопротивление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туннельного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 </a:t>
            </a:r>
            <a:r>
              <a:rPr lang="en-US" sz="2479" dirty="0" err="1">
                <a:solidFill>
                  <a:srgbClr val="231F20"/>
                </a:solidFill>
                <a:latin typeface="Canva Sans"/>
              </a:rPr>
              <a:t>перехода</a:t>
            </a:r>
            <a:r>
              <a:rPr lang="en-US" sz="2479" dirty="0">
                <a:solidFill>
                  <a:srgbClr val="231F20"/>
                </a:solidFill>
                <a:latin typeface="Canva Sans"/>
              </a:rPr>
              <a:t>.</a:t>
            </a:r>
          </a:p>
          <a:p>
            <a:pPr algn="ctr">
              <a:lnSpc>
                <a:spcPts val="3470"/>
              </a:lnSpc>
            </a:pPr>
            <a:endParaRPr lang="en-US" sz="2479" dirty="0">
              <a:solidFill>
                <a:srgbClr val="231F20"/>
              </a:solidFill>
              <a:latin typeface="Canva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054326" y="4647783"/>
            <a:ext cx="1204974" cy="991435"/>
          </a:xfrm>
          <a:custGeom>
            <a:avLst/>
            <a:gdLst/>
            <a:ahLst/>
            <a:cxnLst/>
            <a:rect l="l" t="t" r="r" b="b"/>
            <a:pathLst>
              <a:path w="1204974" h="991435">
                <a:moveTo>
                  <a:pt x="0" y="0"/>
                </a:moveTo>
                <a:lnTo>
                  <a:pt x="1204974" y="0"/>
                </a:lnTo>
                <a:lnTo>
                  <a:pt x="1204974" y="991434"/>
                </a:lnTo>
                <a:lnTo>
                  <a:pt x="0" y="99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68921" y="3693476"/>
            <a:ext cx="9750158" cy="2900047"/>
          </a:xfrm>
          <a:custGeom>
            <a:avLst/>
            <a:gdLst/>
            <a:ahLst/>
            <a:cxnLst/>
            <a:rect l="l" t="t" r="r" b="b"/>
            <a:pathLst>
              <a:path w="9750158" h="2900047">
                <a:moveTo>
                  <a:pt x="0" y="0"/>
                </a:moveTo>
                <a:lnTo>
                  <a:pt x="9750158" y="0"/>
                </a:lnTo>
                <a:lnTo>
                  <a:pt x="9750158" y="2900048"/>
                </a:lnTo>
                <a:lnTo>
                  <a:pt x="0" y="29000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03319" y="1242263"/>
            <a:ext cx="14481362" cy="110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5"/>
              </a:lnSpc>
            </a:pPr>
            <a:r>
              <a:rPr lang="en-US" sz="4285">
                <a:solidFill>
                  <a:srgbClr val="231F20"/>
                </a:solidFill>
                <a:latin typeface="Noticia Text Bold"/>
              </a:rPr>
              <a:t>Резистивная модель Джозефсона описывает ток</a:t>
            </a:r>
          </a:p>
          <a:p>
            <a:pPr algn="ctr">
              <a:lnSpc>
                <a:spcPts val="4285"/>
              </a:lnSpc>
            </a:pPr>
            <a:r>
              <a:rPr lang="en-US" sz="4285">
                <a:solidFill>
                  <a:srgbClr val="231F20"/>
                </a:solidFill>
                <a:latin typeface="Noticia Text Bold"/>
              </a:rPr>
              <a:t>через тунельный переход уравнением: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03319" y="7474451"/>
            <a:ext cx="14481362" cy="1640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5"/>
              </a:lnSpc>
            </a:pPr>
            <a:r>
              <a:rPr lang="en-US" sz="4285">
                <a:solidFill>
                  <a:srgbClr val="231F20"/>
                </a:solidFill>
                <a:latin typeface="Noticia Text Bold"/>
              </a:rPr>
              <a:t>Это позволяет учесть влияние внешних факторов на работу перехода и адаптировать его для конкретных приложений.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282198"/>
            <a:ext cx="16700987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31F20"/>
                </a:solidFill>
                <a:latin typeface="Canva Sans"/>
              </a:rPr>
              <a:t> описывать не только идеальное поведение джозефсоновского перехода без потерь (когда R стремится к нулю)</a:t>
            </a:r>
          </a:p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31F20"/>
                </a:solidFill>
                <a:latin typeface="Canva Sans"/>
              </a:rPr>
              <a:t>но и его поведение при наличии диссипации. </a:t>
            </a:r>
          </a:p>
          <a:p>
            <a:pPr algn="ctr">
              <a:lnSpc>
                <a:spcPts val="4759"/>
              </a:lnSpc>
            </a:pPr>
            <a:endParaRPr lang="en-US" sz="3399">
              <a:solidFill>
                <a:srgbClr val="231F20"/>
              </a:solidFill>
              <a:latin typeface="Canva Sans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5283722" y="4186534"/>
            <a:ext cx="7892655" cy="2745184"/>
          </a:xfrm>
          <a:custGeom>
            <a:avLst/>
            <a:gdLst/>
            <a:ahLst/>
            <a:cxnLst/>
            <a:rect l="l" t="t" r="r" b="b"/>
            <a:pathLst>
              <a:path w="7892655" h="2745184">
                <a:moveTo>
                  <a:pt x="0" y="0"/>
                </a:moveTo>
                <a:lnTo>
                  <a:pt x="7892655" y="0"/>
                </a:lnTo>
                <a:lnTo>
                  <a:pt x="7892655" y="2745184"/>
                </a:lnTo>
                <a:lnTo>
                  <a:pt x="0" y="2745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38" r="-5399" b="-11097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03319" y="1511753"/>
            <a:ext cx="14481362" cy="562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5"/>
              </a:lnSpc>
            </a:pPr>
            <a:r>
              <a:rPr lang="en-US" sz="4285">
                <a:solidFill>
                  <a:srgbClr val="231F20"/>
                </a:solidFill>
                <a:latin typeface="Noticia Text Bold"/>
              </a:rPr>
              <a:t>Модель позволяет: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4215230"/>
            <a:ext cx="18288000" cy="20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0"/>
              </a:lnSpc>
            </a:pPr>
            <a:r>
              <a:rPr lang="en-US" sz="8010">
                <a:solidFill>
                  <a:srgbClr val="231F20"/>
                </a:solidFill>
                <a:latin typeface="Eczar Semi-Bold"/>
              </a:rPr>
              <a:t>Уникальное явление туннельного перехода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E6EEF1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6793981"/>
            <a:ext cx="17118189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</a:rPr>
              <a:t>Это явление происходит, когда сверхпроводник, который обычно не проводит тока, позволяет току проходить через него без приложенного напряжения. Это происходит из-за особенностей квантовой механики, когда электроны в сверхпроводнике могут перемещаться без сопротивления, создавая ток без напряжения.</a:t>
            </a:r>
          </a:p>
        </p:txBody>
      </p:sp>
      <p:sp>
        <p:nvSpPr>
          <p:cNvPr id="6" name="Freeform 6"/>
          <p:cNvSpPr/>
          <p:nvPr/>
        </p:nvSpPr>
        <p:spPr>
          <a:xfrm>
            <a:off x="2734471" y="551918"/>
            <a:ext cx="12819059" cy="5191719"/>
          </a:xfrm>
          <a:custGeom>
            <a:avLst/>
            <a:gdLst/>
            <a:ahLst/>
            <a:cxnLst/>
            <a:rect l="l" t="t" r="r" b="b"/>
            <a:pathLst>
              <a:path w="12819059" h="5191719">
                <a:moveTo>
                  <a:pt x="0" y="0"/>
                </a:moveTo>
                <a:lnTo>
                  <a:pt x="12819058" y="0"/>
                </a:lnTo>
                <a:lnTo>
                  <a:pt x="12819058" y="5191719"/>
                </a:lnTo>
                <a:lnTo>
                  <a:pt x="0" y="5191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4215230"/>
            <a:ext cx="18288000" cy="208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0"/>
              </a:lnSpc>
            </a:pPr>
            <a:r>
              <a:rPr lang="en-US" sz="8010">
                <a:solidFill>
                  <a:srgbClr val="231F20"/>
                </a:solidFill>
                <a:latin typeface="Eczar Semi-Bold"/>
              </a:rPr>
              <a:t>Где используется эффект Джозефсона?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1163055"/>
            <a:ext cx="5990511" cy="40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6"/>
              </a:lnSpc>
            </a:pPr>
            <a:r>
              <a:rPr lang="en-US" sz="2440">
                <a:solidFill>
                  <a:srgbClr val="000000"/>
                </a:solidFill>
                <a:latin typeface="Canva Sans Bold"/>
              </a:rPr>
              <a:t>сверчувствительные магнитометры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93493" y="850832"/>
            <a:ext cx="4301014" cy="43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6"/>
              </a:lnSpc>
            </a:pPr>
            <a:r>
              <a:rPr lang="en-US" sz="2540">
                <a:solidFill>
                  <a:srgbClr val="000000"/>
                </a:solidFill>
                <a:latin typeface="Canva Sans Bold"/>
              </a:rPr>
              <a:t>магнитоэнцефалограция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71716" y="1300720"/>
            <a:ext cx="2333625" cy="38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6"/>
              </a:lnSpc>
            </a:pPr>
            <a:r>
              <a:rPr lang="en-US" sz="2340">
                <a:solidFill>
                  <a:srgbClr val="000000"/>
                </a:solidFill>
                <a:latin typeface="Canva Sans Bold"/>
              </a:rPr>
              <a:t>СКВИД-ячейки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11498" y="8726763"/>
            <a:ext cx="5118378" cy="404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6"/>
              </a:lnSpc>
            </a:pPr>
            <a:r>
              <a:rPr lang="en-US" sz="2440">
                <a:solidFill>
                  <a:srgbClr val="000000"/>
                </a:solidFill>
                <a:latin typeface="Canva Sans Bold"/>
              </a:rPr>
              <a:t>сверхпроводниковые фильтры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14404" y="8982590"/>
            <a:ext cx="3059192" cy="43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6"/>
              </a:lnSpc>
            </a:pPr>
            <a:r>
              <a:rPr lang="en-US" sz="2540">
                <a:solidFill>
                  <a:srgbClr val="000000"/>
                </a:solidFill>
                <a:latin typeface="Canva Sans Bold"/>
              </a:rPr>
              <a:t>сверхпроводники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86664" y="8982590"/>
            <a:ext cx="1268968" cy="43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56"/>
              </a:lnSpc>
            </a:pPr>
            <a:r>
              <a:rPr lang="en-US" sz="2540">
                <a:solidFill>
                  <a:srgbClr val="000000"/>
                </a:solidFill>
                <a:latin typeface="Canva Sans Bold"/>
              </a:rPr>
              <a:t>кубиты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33184" y="2122978"/>
            <a:ext cx="15387964" cy="6210271"/>
            <a:chOff x="0" y="0"/>
            <a:chExt cx="5467614" cy="22066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467614" cy="2206618"/>
            </a:xfrm>
            <a:custGeom>
              <a:avLst/>
              <a:gdLst/>
              <a:ahLst/>
              <a:cxnLst/>
              <a:rect l="l" t="t" r="r" b="b"/>
              <a:pathLst>
                <a:path w="5467614" h="2206618">
                  <a:moveTo>
                    <a:pt x="10062" y="0"/>
                  </a:moveTo>
                  <a:lnTo>
                    <a:pt x="5457551" y="0"/>
                  </a:lnTo>
                  <a:cubicBezTo>
                    <a:pt x="5463108" y="0"/>
                    <a:pt x="5467614" y="4505"/>
                    <a:pt x="5467614" y="10062"/>
                  </a:cubicBezTo>
                  <a:lnTo>
                    <a:pt x="5467614" y="2196556"/>
                  </a:lnTo>
                  <a:cubicBezTo>
                    <a:pt x="5467614" y="2202113"/>
                    <a:pt x="5463108" y="2206618"/>
                    <a:pt x="5457551" y="2206618"/>
                  </a:cubicBezTo>
                  <a:lnTo>
                    <a:pt x="10062" y="2206618"/>
                  </a:lnTo>
                  <a:cubicBezTo>
                    <a:pt x="4505" y="2206618"/>
                    <a:pt x="0" y="2202113"/>
                    <a:pt x="0" y="2196556"/>
                  </a:cubicBezTo>
                  <a:lnTo>
                    <a:pt x="0" y="10062"/>
                  </a:lnTo>
                  <a:cubicBezTo>
                    <a:pt x="0" y="4505"/>
                    <a:pt x="4505" y="0"/>
                    <a:pt x="10062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467614" cy="2235193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50589" y="6211574"/>
            <a:ext cx="3674663" cy="2736606"/>
            <a:chOff x="0" y="0"/>
            <a:chExt cx="8659652" cy="6449042"/>
          </a:xfrm>
        </p:grpSpPr>
        <p:sp>
          <p:nvSpPr>
            <p:cNvPr id="15" name="Freeform 15"/>
            <p:cNvSpPr/>
            <p:nvPr/>
          </p:nvSpPr>
          <p:spPr>
            <a:xfrm>
              <a:off x="0" y="-7620"/>
              <a:ext cx="8664732" cy="6459202"/>
            </a:xfrm>
            <a:custGeom>
              <a:avLst/>
              <a:gdLst/>
              <a:ahLst/>
              <a:cxnLst/>
              <a:rect l="l" t="t" r="r" b="b"/>
              <a:pathLst>
                <a:path w="8664732" h="6459202">
                  <a:moveTo>
                    <a:pt x="6126897" y="6371578"/>
                  </a:moveTo>
                  <a:cubicBezTo>
                    <a:pt x="6076788" y="6381996"/>
                    <a:pt x="6038069" y="6395887"/>
                    <a:pt x="5999348" y="6399360"/>
                  </a:cubicBezTo>
                  <a:cubicBezTo>
                    <a:pt x="5780693" y="6413251"/>
                    <a:pt x="5564316" y="6427143"/>
                    <a:pt x="5345661" y="6439298"/>
                  </a:cubicBezTo>
                  <a:cubicBezTo>
                    <a:pt x="5234056" y="6444507"/>
                    <a:pt x="5122451" y="6449716"/>
                    <a:pt x="5010845" y="6451453"/>
                  </a:cubicBezTo>
                  <a:cubicBezTo>
                    <a:pt x="4890129" y="6454925"/>
                    <a:pt x="4769414" y="6459202"/>
                    <a:pt x="4650975" y="6456662"/>
                  </a:cubicBezTo>
                  <a:cubicBezTo>
                    <a:pt x="4537092" y="6454925"/>
                    <a:pt x="4423210" y="6449716"/>
                    <a:pt x="4313882" y="6434089"/>
                  </a:cubicBezTo>
                  <a:cubicBezTo>
                    <a:pt x="4172667" y="6414988"/>
                    <a:pt x="4029175" y="6414988"/>
                    <a:pt x="3890238" y="6397624"/>
                  </a:cubicBezTo>
                  <a:cubicBezTo>
                    <a:pt x="3528090" y="6352477"/>
                    <a:pt x="3159110" y="6364632"/>
                    <a:pt x="2794685" y="6345532"/>
                  </a:cubicBezTo>
                  <a:cubicBezTo>
                    <a:pt x="2589696" y="6335113"/>
                    <a:pt x="2384707" y="6310803"/>
                    <a:pt x="2179718" y="6289966"/>
                  </a:cubicBezTo>
                  <a:cubicBezTo>
                    <a:pt x="1947397" y="6267393"/>
                    <a:pt x="1715076" y="6241347"/>
                    <a:pt x="1480477" y="6217037"/>
                  </a:cubicBezTo>
                  <a:cubicBezTo>
                    <a:pt x="1309653" y="6199673"/>
                    <a:pt x="1136551" y="6182309"/>
                    <a:pt x="965727" y="6164945"/>
                  </a:cubicBezTo>
                  <a:cubicBezTo>
                    <a:pt x="961171" y="6164945"/>
                    <a:pt x="956616" y="6163208"/>
                    <a:pt x="952061" y="6163208"/>
                  </a:cubicBezTo>
                  <a:cubicBezTo>
                    <a:pt x="808568" y="6116325"/>
                    <a:pt x="655965" y="6079861"/>
                    <a:pt x="523861" y="6019086"/>
                  </a:cubicBezTo>
                  <a:cubicBezTo>
                    <a:pt x="300651" y="5914901"/>
                    <a:pt x="204989" y="5748205"/>
                    <a:pt x="195879" y="5551990"/>
                  </a:cubicBezTo>
                  <a:cubicBezTo>
                    <a:pt x="193601" y="5484270"/>
                    <a:pt x="182213" y="5418287"/>
                    <a:pt x="182213" y="5350566"/>
                  </a:cubicBezTo>
                  <a:cubicBezTo>
                    <a:pt x="184490" y="5256800"/>
                    <a:pt x="193601" y="5164770"/>
                    <a:pt x="200434" y="5072740"/>
                  </a:cubicBezTo>
                  <a:cubicBezTo>
                    <a:pt x="218655" y="4798386"/>
                    <a:pt x="227766" y="4524033"/>
                    <a:pt x="200434" y="4249680"/>
                  </a:cubicBezTo>
                  <a:cubicBezTo>
                    <a:pt x="175380" y="4003109"/>
                    <a:pt x="152603" y="3758274"/>
                    <a:pt x="127549" y="3511704"/>
                  </a:cubicBezTo>
                  <a:cubicBezTo>
                    <a:pt x="111605" y="3353690"/>
                    <a:pt x="91106" y="3197413"/>
                    <a:pt x="77440" y="3039399"/>
                  </a:cubicBezTo>
                  <a:cubicBezTo>
                    <a:pt x="68330" y="2935214"/>
                    <a:pt x="70607" y="2829293"/>
                    <a:pt x="61497" y="2725108"/>
                  </a:cubicBezTo>
                  <a:cubicBezTo>
                    <a:pt x="56941" y="2666070"/>
                    <a:pt x="31887" y="2608768"/>
                    <a:pt x="29610" y="2549730"/>
                  </a:cubicBezTo>
                  <a:cubicBezTo>
                    <a:pt x="20499" y="2407344"/>
                    <a:pt x="18221" y="2263222"/>
                    <a:pt x="13666" y="2119100"/>
                  </a:cubicBezTo>
                  <a:cubicBezTo>
                    <a:pt x="11388" y="2063534"/>
                    <a:pt x="0" y="2007969"/>
                    <a:pt x="2278" y="1952404"/>
                  </a:cubicBezTo>
                  <a:cubicBezTo>
                    <a:pt x="4555" y="1865583"/>
                    <a:pt x="18221" y="1778762"/>
                    <a:pt x="20499" y="1691942"/>
                  </a:cubicBezTo>
                  <a:cubicBezTo>
                    <a:pt x="22777" y="1591230"/>
                    <a:pt x="9111" y="1490518"/>
                    <a:pt x="13666" y="1391542"/>
                  </a:cubicBezTo>
                  <a:cubicBezTo>
                    <a:pt x="13666" y="1296039"/>
                    <a:pt x="29610" y="1202273"/>
                    <a:pt x="45553" y="1106770"/>
                  </a:cubicBezTo>
                  <a:cubicBezTo>
                    <a:pt x="50108" y="1073778"/>
                    <a:pt x="81996" y="1044259"/>
                    <a:pt x="91106" y="1011267"/>
                  </a:cubicBezTo>
                  <a:cubicBezTo>
                    <a:pt x="129826" y="848044"/>
                    <a:pt x="170824" y="684821"/>
                    <a:pt x="271041" y="533753"/>
                  </a:cubicBezTo>
                  <a:cubicBezTo>
                    <a:pt x="293818" y="500762"/>
                    <a:pt x="330260" y="471243"/>
                    <a:pt x="364425" y="445196"/>
                  </a:cubicBezTo>
                  <a:cubicBezTo>
                    <a:pt x="375813" y="436514"/>
                    <a:pt x="403145" y="441723"/>
                    <a:pt x="409978" y="441723"/>
                  </a:cubicBezTo>
                  <a:cubicBezTo>
                    <a:pt x="425922" y="419150"/>
                    <a:pt x="435033" y="396577"/>
                    <a:pt x="453254" y="386158"/>
                  </a:cubicBezTo>
                  <a:cubicBezTo>
                    <a:pt x="551193" y="328857"/>
                    <a:pt x="653688" y="287183"/>
                    <a:pt x="781236" y="276764"/>
                  </a:cubicBezTo>
                  <a:cubicBezTo>
                    <a:pt x="876898" y="268082"/>
                    <a:pt x="970282" y="236827"/>
                    <a:pt x="1065943" y="219462"/>
                  </a:cubicBezTo>
                  <a:cubicBezTo>
                    <a:pt x="1182104" y="198626"/>
                    <a:pt x="1298264" y="174316"/>
                    <a:pt x="1418980" y="162161"/>
                  </a:cubicBezTo>
                  <a:cubicBezTo>
                    <a:pt x="1528308" y="151742"/>
                    <a:pt x="1633080" y="129169"/>
                    <a:pt x="1744685" y="122223"/>
                  </a:cubicBezTo>
                  <a:cubicBezTo>
                    <a:pt x="1858568" y="115278"/>
                    <a:pt x="1972451" y="94441"/>
                    <a:pt x="2088611" y="87495"/>
                  </a:cubicBezTo>
                  <a:cubicBezTo>
                    <a:pt x="2402928" y="70131"/>
                    <a:pt x="2719522" y="57976"/>
                    <a:pt x="3033839" y="44085"/>
                  </a:cubicBezTo>
                  <a:cubicBezTo>
                    <a:pt x="3111279" y="40612"/>
                    <a:pt x="3188720" y="44085"/>
                    <a:pt x="3266160" y="45821"/>
                  </a:cubicBezTo>
                  <a:cubicBezTo>
                    <a:pt x="3304880" y="47558"/>
                    <a:pt x="3343601" y="54503"/>
                    <a:pt x="3384598" y="57976"/>
                  </a:cubicBezTo>
                  <a:cubicBezTo>
                    <a:pt x="3402819" y="59712"/>
                    <a:pt x="3421041" y="54503"/>
                    <a:pt x="3439262" y="54503"/>
                  </a:cubicBezTo>
                  <a:cubicBezTo>
                    <a:pt x="3493925" y="54503"/>
                    <a:pt x="3550867" y="54503"/>
                    <a:pt x="3605531" y="52767"/>
                  </a:cubicBezTo>
                  <a:cubicBezTo>
                    <a:pt x="3710303" y="49294"/>
                    <a:pt x="3817353" y="40612"/>
                    <a:pt x="3922125" y="40612"/>
                  </a:cubicBezTo>
                  <a:cubicBezTo>
                    <a:pt x="4024620" y="40612"/>
                    <a:pt x="4127114" y="45821"/>
                    <a:pt x="4229609" y="49294"/>
                  </a:cubicBezTo>
                  <a:lnTo>
                    <a:pt x="4311605" y="49294"/>
                  </a:lnTo>
                  <a:cubicBezTo>
                    <a:pt x="4436876" y="45821"/>
                    <a:pt x="4559869" y="45821"/>
                    <a:pt x="4685140" y="40612"/>
                  </a:cubicBezTo>
                  <a:cubicBezTo>
                    <a:pt x="4805856" y="35403"/>
                    <a:pt x="4924294" y="23248"/>
                    <a:pt x="5045010" y="18038"/>
                  </a:cubicBezTo>
                  <a:cubicBezTo>
                    <a:pt x="5101951" y="14566"/>
                    <a:pt x="5161171" y="14566"/>
                    <a:pt x="5218112" y="23248"/>
                  </a:cubicBezTo>
                  <a:cubicBezTo>
                    <a:pt x="5304663" y="35403"/>
                    <a:pt x="5386659" y="42348"/>
                    <a:pt x="5473210" y="23248"/>
                  </a:cubicBezTo>
                  <a:cubicBezTo>
                    <a:pt x="5505097" y="16302"/>
                    <a:pt x="5546095" y="28457"/>
                    <a:pt x="5582537" y="31930"/>
                  </a:cubicBezTo>
                  <a:cubicBezTo>
                    <a:pt x="5598481" y="33666"/>
                    <a:pt x="5616702" y="37139"/>
                    <a:pt x="5625813" y="31930"/>
                  </a:cubicBezTo>
                  <a:cubicBezTo>
                    <a:pt x="5687309" y="0"/>
                    <a:pt x="5744251" y="6350"/>
                    <a:pt x="5803470" y="35403"/>
                  </a:cubicBezTo>
                  <a:cubicBezTo>
                    <a:pt x="5810303" y="38875"/>
                    <a:pt x="5828524" y="30193"/>
                    <a:pt x="5842190" y="30193"/>
                  </a:cubicBezTo>
                  <a:cubicBezTo>
                    <a:pt x="5896854" y="30193"/>
                    <a:pt x="5951517" y="30193"/>
                    <a:pt x="6008459" y="31930"/>
                  </a:cubicBezTo>
                  <a:cubicBezTo>
                    <a:pt x="6049457" y="33666"/>
                    <a:pt x="6088177" y="44085"/>
                    <a:pt x="6129175" y="47558"/>
                  </a:cubicBezTo>
                  <a:cubicBezTo>
                    <a:pt x="6218003" y="56240"/>
                    <a:pt x="6309110" y="70131"/>
                    <a:pt x="6400216" y="70131"/>
                  </a:cubicBezTo>
                  <a:cubicBezTo>
                    <a:pt x="6571040" y="71867"/>
                    <a:pt x="6741864" y="77077"/>
                    <a:pt x="6910411" y="104859"/>
                  </a:cubicBezTo>
                  <a:cubicBezTo>
                    <a:pt x="7067569" y="130905"/>
                    <a:pt x="7229283" y="130905"/>
                    <a:pt x="7388719" y="151742"/>
                  </a:cubicBezTo>
                  <a:cubicBezTo>
                    <a:pt x="7484381" y="163897"/>
                    <a:pt x="7582320" y="186471"/>
                    <a:pt x="7664316" y="222935"/>
                  </a:cubicBezTo>
                  <a:cubicBezTo>
                    <a:pt x="7753144" y="261136"/>
                    <a:pt x="7821474" y="323647"/>
                    <a:pt x="7901192" y="375740"/>
                  </a:cubicBezTo>
                  <a:cubicBezTo>
                    <a:pt x="7930802" y="394840"/>
                    <a:pt x="7974077" y="408732"/>
                    <a:pt x="7994576" y="433041"/>
                  </a:cubicBezTo>
                  <a:cubicBezTo>
                    <a:pt x="8053795" y="499025"/>
                    <a:pt x="8106181" y="568482"/>
                    <a:pt x="8158567" y="637938"/>
                  </a:cubicBezTo>
                  <a:cubicBezTo>
                    <a:pt x="8197287" y="688294"/>
                    <a:pt x="8236007" y="740387"/>
                    <a:pt x="8265617" y="792479"/>
                  </a:cubicBezTo>
                  <a:cubicBezTo>
                    <a:pt x="8297504" y="853254"/>
                    <a:pt x="8322559" y="915765"/>
                    <a:pt x="8347613" y="980012"/>
                  </a:cubicBezTo>
                  <a:cubicBezTo>
                    <a:pt x="8386333" y="1080724"/>
                    <a:pt x="8431886" y="1181436"/>
                    <a:pt x="8456940" y="1285621"/>
                  </a:cubicBezTo>
                  <a:cubicBezTo>
                    <a:pt x="8493382" y="1431480"/>
                    <a:pt x="8511604" y="1580811"/>
                    <a:pt x="8538935" y="1728406"/>
                  </a:cubicBezTo>
                  <a:cubicBezTo>
                    <a:pt x="8548046" y="1777026"/>
                    <a:pt x="8559435" y="1825646"/>
                    <a:pt x="8563990" y="1874265"/>
                  </a:cubicBezTo>
                  <a:cubicBezTo>
                    <a:pt x="8577656" y="2013178"/>
                    <a:pt x="8586767" y="2150355"/>
                    <a:pt x="8598155" y="2289268"/>
                  </a:cubicBezTo>
                  <a:cubicBezTo>
                    <a:pt x="8614099" y="2461173"/>
                    <a:pt x="8636875" y="2631342"/>
                    <a:pt x="8648264" y="2803247"/>
                  </a:cubicBezTo>
                  <a:cubicBezTo>
                    <a:pt x="8659652" y="2968206"/>
                    <a:pt x="8664732" y="3134902"/>
                    <a:pt x="8662191" y="3301598"/>
                  </a:cubicBezTo>
                  <a:cubicBezTo>
                    <a:pt x="8657374" y="3579424"/>
                    <a:pt x="8639153" y="3855514"/>
                    <a:pt x="8620931" y="4133340"/>
                  </a:cubicBezTo>
                  <a:cubicBezTo>
                    <a:pt x="8609543" y="4305245"/>
                    <a:pt x="8593599" y="4475413"/>
                    <a:pt x="8570823" y="4645582"/>
                  </a:cubicBezTo>
                  <a:cubicBezTo>
                    <a:pt x="8548046" y="4815751"/>
                    <a:pt x="8513881" y="4984183"/>
                    <a:pt x="8488828" y="5154351"/>
                  </a:cubicBezTo>
                  <a:cubicBezTo>
                    <a:pt x="8470606" y="5272428"/>
                    <a:pt x="8466051" y="5390504"/>
                    <a:pt x="8445552" y="5506844"/>
                  </a:cubicBezTo>
                  <a:cubicBezTo>
                    <a:pt x="8427331" y="5612765"/>
                    <a:pt x="8359001" y="5706531"/>
                    <a:pt x="8267895" y="5784670"/>
                  </a:cubicBezTo>
                  <a:cubicBezTo>
                    <a:pt x="8192732" y="5850654"/>
                    <a:pt x="8133513" y="5925319"/>
                    <a:pt x="8056073" y="5989566"/>
                  </a:cubicBezTo>
                  <a:cubicBezTo>
                    <a:pt x="7987743" y="6046868"/>
                    <a:pt x="7912580" y="6104170"/>
                    <a:pt x="7794142" y="6105907"/>
                  </a:cubicBezTo>
                  <a:cubicBezTo>
                    <a:pt x="7766810" y="6105907"/>
                    <a:pt x="7741756" y="6126743"/>
                    <a:pt x="7714424" y="6137162"/>
                  </a:cubicBezTo>
                  <a:cubicBezTo>
                    <a:pt x="7598263" y="6175363"/>
                    <a:pt x="7477547" y="6208355"/>
                    <a:pt x="7363664" y="6250029"/>
                  </a:cubicBezTo>
                  <a:cubicBezTo>
                    <a:pt x="7154121" y="6326431"/>
                    <a:pt x="6928633" y="6338586"/>
                    <a:pt x="6703144" y="6345532"/>
                  </a:cubicBezTo>
                  <a:cubicBezTo>
                    <a:pt x="6616594" y="6349005"/>
                    <a:pt x="6527765" y="6343795"/>
                    <a:pt x="6441213" y="6349005"/>
                  </a:cubicBezTo>
                  <a:cubicBezTo>
                    <a:pt x="6397938" y="6350741"/>
                    <a:pt x="6356941" y="6366369"/>
                    <a:pt x="6315942" y="6373314"/>
                  </a:cubicBezTo>
                  <a:cubicBezTo>
                    <a:pt x="6297721" y="6376787"/>
                    <a:pt x="6279500" y="6375051"/>
                    <a:pt x="6259001" y="6376787"/>
                  </a:cubicBezTo>
                  <a:cubicBezTo>
                    <a:pt x="6231670" y="6378523"/>
                    <a:pt x="6204337" y="6383733"/>
                    <a:pt x="6177006" y="6381996"/>
                  </a:cubicBezTo>
                  <a:cubicBezTo>
                    <a:pt x="6149674" y="6378523"/>
                    <a:pt x="6131453" y="6371578"/>
                    <a:pt x="6126897" y="6371578"/>
                  </a:cubicBezTo>
                  <a:close/>
                </a:path>
              </a:pathLst>
            </a:custGeom>
            <a:blipFill>
              <a:blip r:embed="rId2"/>
              <a:stretch>
                <a:fillRect l="-1885" t="-47" r="-1887" b="-15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210996" y="6176272"/>
            <a:ext cx="3866007" cy="2771908"/>
            <a:chOff x="0" y="0"/>
            <a:chExt cx="6578539" cy="4716780"/>
          </a:xfrm>
        </p:grpSpPr>
        <p:sp>
          <p:nvSpPr>
            <p:cNvPr id="17" name="Freeform 17"/>
            <p:cNvSpPr/>
            <p:nvPr/>
          </p:nvSpPr>
          <p:spPr>
            <a:xfrm>
              <a:off x="0" y="-7620"/>
              <a:ext cx="6583619" cy="4726940"/>
            </a:xfrm>
            <a:custGeom>
              <a:avLst/>
              <a:gdLst/>
              <a:ahLst/>
              <a:cxnLst/>
              <a:rect l="l" t="t" r="r" b="b"/>
              <a:pathLst>
                <a:path w="6583619" h="4726940">
                  <a:moveTo>
                    <a:pt x="4654463" y="4662170"/>
                  </a:moveTo>
                  <a:cubicBezTo>
                    <a:pt x="4616397" y="4669790"/>
                    <a:pt x="4586982" y="4679950"/>
                    <a:pt x="4557568" y="4682490"/>
                  </a:cubicBezTo>
                  <a:cubicBezTo>
                    <a:pt x="4391460" y="4692650"/>
                    <a:pt x="4227083" y="4702810"/>
                    <a:pt x="4060976" y="4711700"/>
                  </a:cubicBezTo>
                  <a:cubicBezTo>
                    <a:pt x="3976192" y="4715510"/>
                    <a:pt x="3891408" y="4719320"/>
                    <a:pt x="3806624" y="4720590"/>
                  </a:cubicBezTo>
                  <a:cubicBezTo>
                    <a:pt x="3714919" y="4723130"/>
                    <a:pt x="3623214" y="4726940"/>
                    <a:pt x="3533239" y="4724400"/>
                  </a:cubicBezTo>
                  <a:cubicBezTo>
                    <a:pt x="3446725" y="4723130"/>
                    <a:pt x="3360211" y="4719320"/>
                    <a:pt x="3277157" y="4707890"/>
                  </a:cubicBezTo>
                  <a:cubicBezTo>
                    <a:pt x="3169880" y="4693920"/>
                    <a:pt x="3060872" y="4693920"/>
                    <a:pt x="2955325" y="4681220"/>
                  </a:cubicBezTo>
                  <a:cubicBezTo>
                    <a:pt x="2680209" y="4648200"/>
                    <a:pt x="2399904" y="4657090"/>
                    <a:pt x="2123058" y="4643120"/>
                  </a:cubicBezTo>
                  <a:cubicBezTo>
                    <a:pt x="1967333" y="4635500"/>
                    <a:pt x="1811607" y="4617720"/>
                    <a:pt x="1655881" y="4602480"/>
                  </a:cubicBezTo>
                  <a:cubicBezTo>
                    <a:pt x="1479393" y="4585970"/>
                    <a:pt x="1302904" y="4566920"/>
                    <a:pt x="1124684" y="4549140"/>
                  </a:cubicBezTo>
                  <a:cubicBezTo>
                    <a:pt x="994913" y="4536440"/>
                    <a:pt x="863412" y="4523740"/>
                    <a:pt x="733640" y="4511040"/>
                  </a:cubicBezTo>
                  <a:cubicBezTo>
                    <a:pt x="730180" y="4511040"/>
                    <a:pt x="726719" y="4509770"/>
                    <a:pt x="723259" y="4509770"/>
                  </a:cubicBezTo>
                  <a:cubicBezTo>
                    <a:pt x="614251" y="4475480"/>
                    <a:pt x="498322" y="4448810"/>
                    <a:pt x="397965" y="4404360"/>
                  </a:cubicBezTo>
                  <a:cubicBezTo>
                    <a:pt x="228397" y="4328160"/>
                    <a:pt x="155726" y="4206240"/>
                    <a:pt x="148804" y="4062730"/>
                  </a:cubicBezTo>
                  <a:cubicBezTo>
                    <a:pt x="147074" y="4013200"/>
                    <a:pt x="138423" y="3964940"/>
                    <a:pt x="138423" y="3915410"/>
                  </a:cubicBezTo>
                  <a:cubicBezTo>
                    <a:pt x="140153" y="3846830"/>
                    <a:pt x="147074" y="3779520"/>
                    <a:pt x="152265" y="3712210"/>
                  </a:cubicBezTo>
                  <a:cubicBezTo>
                    <a:pt x="166107" y="3511550"/>
                    <a:pt x="173028" y="3310890"/>
                    <a:pt x="152265" y="3110230"/>
                  </a:cubicBezTo>
                  <a:cubicBezTo>
                    <a:pt x="133232" y="2929890"/>
                    <a:pt x="115929" y="2750820"/>
                    <a:pt x="96896" y="2570480"/>
                  </a:cubicBezTo>
                  <a:cubicBezTo>
                    <a:pt x="84784" y="2454910"/>
                    <a:pt x="69211" y="2340610"/>
                    <a:pt x="58830" y="2225040"/>
                  </a:cubicBezTo>
                  <a:cubicBezTo>
                    <a:pt x="51909" y="2148840"/>
                    <a:pt x="53639" y="2071370"/>
                    <a:pt x="46718" y="1995170"/>
                  </a:cubicBezTo>
                  <a:cubicBezTo>
                    <a:pt x="43257" y="1951990"/>
                    <a:pt x="24224" y="1910080"/>
                    <a:pt x="22494" y="1866900"/>
                  </a:cubicBezTo>
                  <a:cubicBezTo>
                    <a:pt x="15573" y="1762760"/>
                    <a:pt x="13842" y="1657350"/>
                    <a:pt x="10382" y="1551940"/>
                  </a:cubicBezTo>
                  <a:cubicBezTo>
                    <a:pt x="8651" y="1511300"/>
                    <a:pt x="0" y="1470660"/>
                    <a:pt x="1730" y="1430020"/>
                  </a:cubicBezTo>
                  <a:cubicBezTo>
                    <a:pt x="3461" y="1366520"/>
                    <a:pt x="13842" y="1303020"/>
                    <a:pt x="15573" y="1239520"/>
                  </a:cubicBezTo>
                  <a:cubicBezTo>
                    <a:pt x="17303" y="1165860"/>
                    <a:pt x="6921" y="1092200"/>
                    <a:pt x="10382" y="1019810"/>
                  </a:cubicBezTo>
                  <a:cubicBezTo>
                    <a:pt x="10382" y="949960"/>
                    <a:pt x="22494" y="881380"/>
                    <a:pt x="34606" y="811530"/>
                  </a:cubicBezTo>
                  <a:cubicBezTo>
                    <a:pt x="38066" y="787400"/>
                    <a:pt x="62290" y="765810"/>
                    <a:pt x="69211" y="741680"/>
                  </a:cubicBezTo>
                  <a:cubicBezTo>
                    <a:pt x="98626" y="622300"/>
                    <a:pt x="129771" y="502920"/>
                    <a:pt x="205904" y="392430"/>
                  </a:cubicBezTo>
                  <a:cubicBezTo>
                    <a:pt x="223207" y="368300"/>
                    <a:pt x="250891" y="346710"/>
                    <a:pt x="276845" y="327660"/>
                  </a:cubicBezTo>
                  <a:cubicBezTo>
                    <a:pt x="285497" y="321310"/>
                    <a:pt x="306260" y="325120"/>
                    <a:pt x="311451" y="325120"/>
                  </a:cubicBezTo>
                  <a:cubicBezTo>
                    <a:pt x="323563" y="308610"/>
                    <a:pt x="330484" y="292100"/>
                    <a:pt x="344326" y="284480"/>
                  </a:cubicBezTo>
                  <a:cubicBezTo>
                    <a:pt x="418729" y="242570"/>
                    <a:pt x="496591" y="212090"/>
                    <a:pt x="593487" y="204470"/>
                  </a:cubicBezTo>
                  <a:cubicBezTo>
                    <a:pt x="666159" y="198120"/>
                    <a:pt x="737101" y="175260"/>
                    <a:pt x="809773" y="162560"/>
                  </a:cubicBezTo>
                  <a:cubicBezTo>
                    <a:pt x="898017" y="147320"/>
                    <a:pt x="986262" y="129540"/>
                    <a:pt x="1077967" y="120650"/>
                  </a:cubicBezTo>
                  <a:cubicBezTo>
                    <a:pt x="1161020" y="113030"/>
                    <a:pt x="1240613" y="96520"/>
                    <a:pt x="1325397" y="91440"/>
                  </a:cubicBezTo>
                  <a:cubicBezTo>
                    <a:pt x="1411911" y="86360"/>
                    <a:pt x="1498426" y="71120"/>
                    <a:pt x="1586670" y="66040"/>
                  </a:cubicBezTo>
                  <a:cubicBezTo>
                    <a:pt x="1825449" y="53340"/>
                    <a:pt x="2065959" y="44450"/>
                    <a:pt x="2304738" y="34290"/>
                  </a:cubicBezTo>
                  <a:cubicBezTo>
                    <a:pt x="2363568" y="31750"/>
                    <a:pt x="2422397" y="34290"/>
                    <a:pt x="2481227" y="35560"/>
                  </a:cubicBezTo>
                  <a:cubicBezTo>
                    <a:pt x="2510642" y="36830"/>
                    <a:pt x="2540057" y="41910"/>
                    <a:pt x="2571202" y="44450"/>
                  </a:cubicBezTo>
                  <a:cubicBezTo>
                    <a:pt x="2585044" y="45720"/>
                    <a:pt x="2598886" y="41910"/>
                    <a:pt x="2612729" y="41910"/>
                  </a:cubicBezTo>
                  <a:cubicBezTo>
                    <a:pt x="2654255" y="41910"/>
                    <a:pt x="2697512" y="41910"/>
                    <a:pt x="2739039" y="40640"/>
                  </a:cubicBezTo>
                  <a:cubicBezTo>
                    <a:pt x="2818632" y="38100"/>
                    <a:pt x="2899956" y="31750"/>
                    <a:pt x="2979549" y="31750"/>
                  </a:cubicBezTo>
                  <a:cubicBezTo>
                    <a:pt x="3057411" y="31750"/>
                    <a:pt x="3135274" y="35560"/>
                    <a:pt x="3213137" y="38100"/>
                  </a:cubicBezTo>
                  <a:lnTo>
                    <a:pt x="3275427" y="38100"/>
                  </a:lnTo>
                  <a:cubicBezTo>
                    <a:pt x="3370593" y="35560"/>
                    <a:pt x="3464028" y="35560"/>
                    <a:pt x="3559194" y="31750"/>
                  </a:cubicBezTo>
                  <a:cubicBezTo>
                    <a:pt x="3650899" y="27940"/>
                    <a:pt x="3740874" y="19050"/>
                    <a:pt x="3832578" y="15240"/>
                  </a:cubicBezTo>
                  <a:cubicBezTo>
                    <a:pt x="3875836" y="12700"/>
                    <a:pt x="3920823" y="12700"/>
                    <a:pt x="3964080" y="19050"/>
                  </a:cubicBezTo>
                  <a:cubicBezTo>
                    <a:pt x="4029831" y="27940"/>
                    <a:pt x="4092121" y="33020"/>
                    <a:pt x="4157872" y="19050"/>
                  </a:cubicBezTo>
                  <a:cubicBezTo>
                    <a:pt x="4182096" y="13970"/>
                    <a:pt x="4213241" y="22860"/>
                    <a:pt x="4240926" y="25400"/>
                  </a:cubicBezTo>
                  <a:cubicBezTo>
                    <a:pt x="4253038" y="26670"/>
                    <a:pt x="4266880" y="29210"/>
                    <a:pt x="4273801" y="25400"/>
                  </a:cubicBezTo>
                  <a:cubicBezTo>
                    <a:pt x="4320518" y="0"/>
                    <a:pt x="4363776" y="6350"/>
                    <a:pt x="4408763" y="27940"/>
                  </a:cubicBezTo>
                  <a:cubicBezTo>
                    <a:pt x="4413954" y="30480"/>
                    <a:pt x="4427796" y="24130"/>
                    <a:pt x="4438178" y="24130"/>
                  </a:cubicBezTo>
                  <a:cubicBezTo>
                    <a:pt x="4479704" y="24130"/>
                    <a:pt x="4521231" y="24130"/>
                    <a:pt x="4564488" y="25400"/>
                  </a:cubicBezTo>
                  <a:cubicBezTo>
                    <a:pt x="4595634" y="26670"/>
                    <a:pt x="4625048" y="34290"/>
                    <a:pt x="4656194" y="36830"/>
                  </a:cubicBezTo>
                  <a:cubicBezTo>
                    <a:pt x="4723675" y="43180"/>
                    <a:pt x="4792886" y="53340"/>
                    <a:pt x="4862097" y="53340"/>
                  </a:cubicBezTo>
                  <a:cubicBezTo>
                    <a:pt x="4991869" y="54610"/>
                    <a:pt x="5121640" y="58420"/>
                    <a:pt x="5249681" y="78740"/>
                  </a:cubicBezTo>
                  <a:cubicBezTo>
                    <a:pt x="5369070" y="97790"/>
                    <a:pt x="5491921" y="97790"/>
                    <a:pt x="5613040" y="113030"/>
                  </a:cubicBezTo>
                  <a:cubicBezTo>
                    <a:pt x="5685713" y="121920"/>
                    <a:pt x="5760115" y="138430"/>
                    <a:pt x="5822405" y="165100"/>
                  </a:cubicBezTo>
                  <a:cubicBezTo>
                    <a:pt x="5889886" y="193040"/>
                    <a:pt x="5941794" y="238760"/>
                    <a:pt x="6002354" y="276860"/>
                  </a:cubicBezTo>
                  <a:cubicBezTo>
                    <a:pt x="6024848" y="290830"/>
                    <a:pt x="6057724" y="300990"/>
                    <a:pt x="6073296" y="318770"/>
                  </a:cubicBezTo>
                  <a:cubicBezTo>
                    <a:pt x="6118284" y="367030"/>
                    <a:pt x="6158080" y="417830"/>
                    <a:pt x="6197877" y="468630"/>
                  </a:cubicBezTo>
                  <a:cubicBezTo>
                    <a:pt x="6227291" y="505460"/>
                    <a:pt x="6256706" y="543560"/>
                    <a:pt x="6279200" y="581660"/>
                  </a:cubicBezTo>
                  <a:cubicBezTo>
                    <a:pt x="6303424" y="626110"/>
                    <a:pt x="6322457" y="671830"/>
                    <a:pt x="6341490" y="718820"/>
                  </a:cubicBezTo>
                  <a:cubicBezTo>
                    <a:pt x="6370905" y="792480"/>
                    <a:pt x="6405511" y="866140"/>
                    <a:pt x="6424544" y="942340"/>
                  </a:cubicBezTo>
                  <a:cubicBezTo>
                    <a:pt x="6452228" y="1049020"/>
                    <a:pt x="6466071" y="1158240"/>
                    <a:pt x="6486834" y="1266190"/>
                  </a:cubicBezTo>
                  <a:cubicBezTo>
                    <a:pt x="6493755" y="1301750"/>
                    <a:pt x="6502406" y="1337310"/>
                    <a:pt x="6505867" y="1372870"/>
                  </a:cubicBezTo>
                  <a:cubicBezTo>
                    <a:pt x="6516249" y="1474470"/>
                    <a:pt x="6523170" y="1574800"/>
                    <a:pt x="6531821" y="1676400"/>
                  </a:cubicBezTo>
                  <a:cubicBezTo>
                    <a:pt x="6543933" y="1802130"/>
                    <a:pt x="6561236" y="1926590"/>
                    <a:pt x="6569887" y="2052320"/>
                  </a:cubicBezTo>
                  <a:cubicBezTo>
                    <a:pt x="6578539" y="2172970"/>
                    <a:pt x="6583619" y="2294890"/>
                    <a:pt x="6581079" y="2416810"/>
                  </a:cubicBezTo>
                  <a:cubicBezTo>
                    <a:pt x="6576809" y="2620010"/>
                    <a:pt x="6562966" y="2821940"/>
                    <a:pt x="6549124" y="3025140"/>
                  </a:cubicBezTo>
                  <a:cubicBezTo>
                    <a:pt x="6540473" y="3150870"/>
                    <a:pt x="6528360" y="3275330"/>
                    <a:pt x="6511058" y="3399790"/>
                  </a:cubicBezTo>
                  <a:cubicBezTo>
                    <a:pt x="6493755" y="3524250"/>
                    <a:pt x="6467801" y="3647440"/>
                    <a:pt x="6448768" y="3771900"/>
                  </a:cubicBezTo>
                  <a:cubicBezTo>
                    <a:pt x="6434925" y="3858260"/>
                    <a:pt x="6431465" y="3944620"/>
                    <a:pt x="6415892" y="4029710"/>
                  </a:cubicBezTo>
                  <a:cubicBezTo>
                    <a:pt x="6402050" y="4107180"/>
                    <a:pt x="6350141" y="4175760"/>
                    <a:pt x="6280930" y="4232910"/>
                  </a:cubicBezTo>
                  <a:cubicBezTo>
                    <a:pt x="6223831" y="4281170"/>
                    <a:pt x="6178843" y="4335780"/>
                    <a:pt x="6120014" y="4382770"/>
                  </a:cubicBezTo>
                  <a:cubicBezTo>
                    <a:pt x="6068106" y="4424680"/>
                    <a:pt x="6011006" y="4466590"/>
                    <a:pt x="5921031" y="4467860"/>
                  </a:cubicBezTo>
                  <a:cubicBezTo>
                    <a:pt x="5900268" y="4467860"/>
                    <a:pt x="5881234" y="4483100"/>
                    <a:pt x="5860471" y="4490720"/>
                  </a:cubicBezTo>
                  <a:cubicBezTo>
                    <a:pt x="5772227" y="4518660"/>
                    <a:pt x="5680521" y="4542790"/>
                    <a:pt x="5594007" y="4573270"/>
                  </a:cubicBezTo>
                  <a:cubicBezTo>
                    <a:pt x="5434821" y="4629150"/>
                    <a:pt x="5263523" y="4638040"/>
                    <a:pt x="5092225" y="4643120"/>
                  </a:cubicBezTo>
                  <a:cubicBezTo>
                    <a:pt x="5026474" y="4645660"/>
                    <a:pt x="4958993" y="4641850"/>
                    <a:pt x="4893242" y="4645660"/>
                  </a:cubicBezTo>
                  <a:cubicBezTo>
                    <a:pt x="4860367" y="4646930"/>
                    <a:pt x="4829222" y="4658360"/>
                    <a:pt x="4798077" y="4663440"/>
                  </a:cubicBezTo>
                  <a:cubicBezTo>
                    <a:pt x="4784235" y="4665980"/>
                    <a:pt x="4770393" y="4664710"/>
                    <a:pt x="4754819" y="4665980"/>
                  </a:cubicBezTo>
                  <a:cubicBezTo>
                    <a:pt x="4734056" y="4667250"/>
                    <a:pt x="4713293" y="4671060"/>
                    <a:pt x="4692530" y="4669790"/>
                  </a:cubicBezTo>
                  <a:cubicBezTo>
                    <a:pt x="4671766" y="4667250"/>
                    <a:pt x="4657924" y="4662170"/>
                    <a:pt x="4654463" y="4662170"/>
                  </a:cubicBezTo>
                  <a:close/>
                </a:path>
              </a:pathLst>
            </a:custGeom>
            <a:blipFill>
              <a:blip r:embed="rId3"/>
              <a:stretch>
                <a:fillRect l="-22" t="-2337" r="-12" b="-2339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435638" y="5984423"/>
            <a:ext cx="4560104" cy="2570126"/>
            <a:chOff x="0" y="0"/>
            <a:chExt cx="8368854" cy="4716780"/>
          </a:xfrm>
        </p:grpSpPr>
        <p:sp>
          <p:nvSpPr>
            <p:cNvPr id="19" name="Freeform 19"/>
            <p:cNvSpPr/>
            <p:nvPr/>
          </p:nvSpPr>
          <p:spPr>
            <a:xfrm>
              <a:off x="0" y="-7620"/>
              <a:ext cx="8373934" cy="4726940"/>
            </a:xfrm>
            <a:custGeom>
              <a:avLst/>
              <a:gdLst/>
              <a:ahLst/>
              <a:cxnLst/>
              <a:rect l="l" t="t" r="r" b="b"/>
              <a:pathLst>
                <a:path w="8373934" h="4726940">
                  <a:moveTo>
                    <a:pt x="5921151" y="4662170"/>
                  </a:moveTo>
                  <a:cubicBezTo>
                    <a:pt x="5872725" y="4669790"/>
                    <a:pt x="5835306" y="4679950"/>
                    <a:pt x="5797886" y="4682490"/>
                  </a:cubicBezTo>
                  <a:cubicBezTo>
                    <a:pt x="5586573" y="4692650"/>
                    <a:pt x="5377462" y="4702810"/>
                    <a:pt x="5166149" y="4711700"/>
                  </a:cubicBezTo>
                  <a:cubicBezTo>
                    <a:pt x="5058292" y="4715510"/>
                    <a:pt x="4950435" y="4719320"/>
                    <a:pt x="4842577" y="4720590"/>
                  </a:cubicBezTo>
                  <a:cubicBezTo>
                    <a:pt x="4725915" y="4723130"/>
                    <a:pt x="4609253" y="4726940"/>
                    <a:pt x="4494792" y="4724400"/>
                  </a:cubicBezTo>
                  <a:cubicBezTo>
                    <a:pt x="4384734" y="4723130"/>
                    <a:pt x="4274675" y="4719320"/>
                    <a:pt x="4169019" y="4707890"/>
                  </a:cubicBezTo>
                  <a:cubicBezTo>
                    <a:pt x="4032546" y="4693920"/>
                    <a:pt x="3893872" y="4693920"/>
                    <a:pt x="3759601" y="4681220"/>
                  </a:cubicBezTo>
                  <a:cubicBezTo>
                    <a:pt x="3409614" y="4648200"/>
                    <a:pt x="3053025" y="4657090"/>
                    <a:pt x="2700837" y="4643120"/>
                  </a:cubicBezTo>
                  <a:cubicBezTo>
                    <a:pt x="2502732" y="4635500"/>
                    <a:pt x="2304627" y="4617720"/>
                    <a:pt x="2106521" y="4602480"/>
                  </a:cubicBezTo>
                  <a:cubicBezTo>
                    <a:pt x="1882002" y="4585970"/>
                    <a:pt x="1657482" y="4566920"/>
                    <a:pt x="1430762" y="4549140"/>
                  </a:cubicBezTo>
                  <a:cubicBezTo>
                    <a:pt x="1265674" y="4536440"/>
                    <a:pt x="1098385" y="4523740"/>
                    <a:pt x="933297" y="4511040"/>
                  </a:cubicBezTo>
                  <a:cubicBezTo>
                    <a:pt x="928894" y="4511040"/>
                    <a:pt x="924492" y="4509770"/>
                    <a:pt x="920090" y="4509770"/>
                  </a:cubicBezTo>
                  <a:cubicBezTo>
                    <a:pt x="781416" y="4475480"/>
                    <a:pt x="633937" y="4448810"/>
                    <a:pt x="506269" y="4404360"/>
                  </a:cubicBezTo>
                  <a:cubicBezTo>
                    <a:pt x="290555" y="4328160"/>
                    <a:pt x="198105" y="4206240"/>
                    <a:pt x="189301" y="4062730"/>
                  </a:cubicBezTo>
                  <a:cubicBezTo>
                    <a:pt x="187100" y="4013200"/>
                    <a:pt x="176094" y="3964940"/>
                    <a:pt x="176094" y="3915410"/>
                  </a:cubicBezTo>
                  <a:cubicBezTo>
                    <a:pt x="178295" y="3846830"/>
                    <a:pt x="187100" y="3779520"/>
                    <a:pt x="193703" y="3712210"/>
                  </a:cubicBezTo>
                  <a:cubicBezTo>
                    <a:pt x="211312" y="3511550"/>
                    <a:pt x="220117" y="3310890"/>
                    <a:pt x="193703" y="3110230"/>
                  </a:cubicBezTo>
                  <a:cubicBezTo>
                    <a:pt x="169490" y="2929890"/>
                    <a:pt x="147478" y="2750820"/>
                    <a:pt x="123266" y="2570480"/>
                  </a:cubicBezTo>
                  <a:cubicBezTo>
                    <a:pt x="107857" y="2454910"/>
                    <a:pt x="88047" y="2340610"/>
                    <a:pt x="74840" y="2225040"/>
                  </a:cubicBezTo>
                  <a:cubicBezTo>
                    <a:pt x="66035" y="2148840"/>
                    <a:pt x="68236" y="2071370"/>
                    <a:pt x="59432" y="1995170"/>
                  </a:cubicBezTo>
                  <a:cubicBezTo>
                    <a:pt x="55029" y="1951990"/>
                    <a:pt x="30816" y="1910080"/>
                    <a:pt x="28615" y="1866900"/>
                  </a:cubicBezTo>
                  <a:cubicBezTo>
                    <a:pt x="19811" y="1762760"/>
                    <a:pt x="17609" y="1657350"/>
                    <a:pt x="13207" y="1551940"/>
                  </a:cubicBezTo>
                  <a:cubicBezTo>
                    <a:pt x="11006" y="1511300"/>
                    <a:pt x="0" y="1470660"/>
                    <a:pt x="2201" y="1430020"/>
                  </a:cubicBezTo>
                  <a:cubicBezTo>
                    <a:pt x="4402" y="1366520"/>
                    <a:pt x="17609" y="1303020"/>
                    <a:pt x="19811" y="1239520"/>
                  </a:cubicBezTo>
                  <a:cubicBezTo>
                    <a:pt x="22012" y="1165860"/>
                    <a:pt x="8805" y="1092200"/>
                    <a:pt x="13207" y="1019810"/>
                  </a:cubicBezTo>
                  <a:cubicBezTo>
                    <a:pt x="13207" y="949960"/>
                    <a:pt x="28615" y="881380"/>
                    <a:pt x="44023" y="811530"/>
                  </a:cubicBezTo>
                  <a:cubicBezTo>
                    <a:pt x="48426" y="787400"/>
                    <a:pt x="79242" y="765810"/>
                    <a:pt x="88047" y="741680"/>
                  </a:cubicBezTo>
                  <a:cubicBezTo>
                    <a:pt x="125467" y="622300"/>
                    <a:pt x="165088" y="502920"/>
                    <a:pt x="261939" y="392430"/>
                  </a:cubicBezTo>
                  <a:cubicBezTo>
                    <a:pt x="283951" y="368300"/>
                    <a:pt x="319170" y="346710"/>
                    <a:pt x="352187" y="327660"/>
                  </a:cubicBezTo>
                  <a:cubicBezTo>
                    <a:pt x="363193" y="321310"/>
                    <a:pt x="389607" y="325120"/>
                    <a:pt x="396211" y="325120"/>
                  </a:cubicBezTo>
                  <a:cubicBezTo>
                    <a:pt x="411619" y="308610"/>
                    <a:pt x="420424" y="292100"/>
                    <a:pt x="438033" y="284480"/>
                  </a:cubicBezTo>
                  <a:cubicBezTo>
                    <a:pt x="532684" y="242570"/>
                    <a:pt x="631736" y="212090"/>
                    <a:pt x="755002" y="204470"/>
                  </a:cubicBezTo>
                  <a:cubicBezTo>
                    <a:pt x="847451" y="198120"/>
                    <a:pt x="937699" y="175260"/>
                    <a:pt x="1030148" y="162560"/>
                  </a:cubicBezTo>
                  <a:cubicBezTo>
                    <a:pt x="1142408" y="147320"/>
                    <a:pt x="1254668" y="129540"/>
                    <a:pt x="1371330" y="120650"/>
                  </a:cubicBezTo>
                  <a:cubicBezTo>
                    <a:pt x="1476986" y="113030"/>
                    <a:pt x="1578240" y="96520"/>
                    <a:pt x="1686097" y="91440"/>
                  </a:cubicBezTo>
                  <a:cubicBezTo>
                    <a:pt x="1796156" y="86360"/>
                    <a:pt x="1906214" y="71120"/>
                    <a:pt x="2018474" y="66040"/>
                  </a:cubicBezTo>
                  <a:cubicBezTo>
                    <a:pt x="2322236" y="53340"/>
                    <a:pt x="2628199" y="44450"/>
                    <a:pt x="2931960" y="34290"/>
                  </a:cubicBezTo>
                  <a:cubicBezTo>
                    <a:pt x="3006800" y="31750"/>
                    <a:pt x="3081640" y="34290"/>
                    <a:pt x="3156480" y="35560"/>
                  </a:cubicBezTo>
                  <a:cubicBezTo>
                    <a:pt x="3193900" y="36830"/>
                    <a:pt x="3231320" y="41910"/>
                    <a:pt x="3270941" y="44450"/>
                  </a:cubicBezTo>
                  <a:cubicBezTo>
                    <a:pt x="3288550" y="45720"/>
                    <a:pt x="3306159" y="41910"/>
                    <a:pt x="3323769" y="41910"/>
                  </a:cubicBezTo>
                  <a:cubicBezTo>
                    <a:pt x="3376597" y="41910"/>
                    <a:pt x="3431626" y="41910"/>
                    <a:pt x="3484455" y="40640"/>
                  </a:cubicBezTo>
                  <a:cubicBezTo>
                    <a:pt x="3585708" y="38100"/>
                    <a:pt x="3689164" y="31750"/>
                    <a:pt x="3790417" y="31750"/>
                  </a:cubicBezTo>
                  <a:cubicBezTo>
                    <a:pt x="3889470" y="31750"/>
                    <a:pt x="3988523" y="35560"/>
                    <a:pt x="4087575" y="38100"/>
                  </a:cubicBezTo>
                  <a:lnTo>
                    <a:pt x="4166818" y="38100"/>
                  </a:lnTo>
                  <a:cubicBezTo>
                    <a:pt x="4287882" y="35560"/>
                    <a:pt x="4406745" y="35560"/>
                    <a:pt x="4527810" y="31750"/>
                  </a:cubicBezTo>
                  <a:cubicBezTo>
                    <a:pt x="4644472" y="27940"/>
                    <a:pt x="4758933" y="19050"/>
                    <a:pt x="4875595" y="15240"/>
                  </a:cubicBezTo>
                  <a:cubicBezTo>
                    <a:pt x="4930624" y="12700"/>
                    <a:pt x="4987855" y="12700"/>
                    <a:pt x="5042884" y="19050"/>
                  </a:cubicBezTo>
                  <a:cubicBezTo>
                    <a:pt x="5126528" y="27940"/>
                    <a:pt x="5205771" y="33020"/>
                    <a:pt x="5289415" y="19050"/>
                  </a:cubicBezTo>
                  <a:cubicBezTo>
                    <a:pt x="5320231" y="13970"/>
                    <a:pt x="5359853" y="22860"/>
                    <a:pt x="5395071" y="25400"/>
                  </a:cubicBezTo>
                  <a:cubicBezTo>
                    <a:pt x="5410480" y="26670"/>
                    <a:pt x="5428089" y="29210"/>
                    <a:pt x="5436894" y="25400"/>
                  </a:cubicBezTo>
                  <a:cubicBezTo>
                    <a:pt x="5496325" y="0"/>
                    <a:pt x="5551355" y="6350"/>
                    <a:pt x="5608585" y="27940"/>
                  </a:cubicBezTo>
                  <a:cubicBezTo>
                    <a:pt x="5615189" y="30480"/>
                    <a:pt x="5632798" y="24130"/>
                    <a:pt x="5646005" y="24130"/>
                  </a:cubicBezTo>
                  <a:cubicBezTo>
                    <a:pt x="5698833" y="24130"/>
                    <a:pt x="5751661" y="24130"/>
                    <a:pt x="5806690" y="25400"/>
                  </a:cubicBezTo>
                  <a:cubicBezTo>
                    <a:pt x="5846312" y="26670"/>
                    <a:pt x="5883731" y="34290"/>
                    <a:pt x="5923353" y="36830"/>
                  </a:cubicBezTo>
                  <a:cubicBezTo>
                    <a:pt x="6009198" y="43180"/>
                    <a:pt x="6097245" y="53340"/>
                    <a:pt x="6185292" y="53340"/>
                  </a:cubicBezTo>
                  <a:cubicBezTo>
                    <a:pt x="6350380" y="54610"/>
                    <a:pt x="6515467" y="58420"/>
                    <a:pt x="6678354" y="78740"/>
                  </a:cubicBezTo>
                  <a:cubicBezTo>
                    <a:pt x="6830235" y="97790"/>
                    <a:pt x="6986519" y="97790"/>
                    <a:pt x="7140601" y="113030"/>
                  </a:cubicBezTo>
                  <a:cubicBezTo>
                    <a:pt x="7233050" y="121920"/>
                    <a:pt x="7327700" y="138430"/>
                    <a:pt x="7406942" y="165100"/>
                  </a:cubicBezTo>
                  <a:cubicBezTo>
                    <a:pt x="7492788" y="193040"/>
                    <a:pt x="7558823" y="238760"/>
                    <a:pt x="7635864" y="276860"/>
                  </a:cubicBezTo>
                  <a:cubicBezTo>
                    <a:pt x="7664479" y="290830"/>
                    <a:pt x="7706302" y="300990"/>
                    <a:pt x="7726112" y="318770"/>
                  </a:cubicBezTo>
                  <a:cubicBezTo>
                    <a:pt x="7783343" y="367030"/>
                    <a:pt x="7833969" y="417830"/>
                    <a:pt x="7884596" y="468630"/>
                  </a:cubicBezTo>
                  <a:cubicBezTo>
                    <a:pt x="7922016" y="505460"/>
                    <a:pt x="7959437" y="543560"/>
                    <a:pt x="7988051" y="581660"/>
                  </a:cubicBezTo>
                  <a:cubicBezTo>
                    <a:pt x="8018868" y="626110"/>
                    <a:pt x="8043080" y="671830"/>
                    <a:pt x="8067294" y="718820"/>
                  </a:cubicBezTo>
                  <a:cubicBezTo>
                    <a:pt x="8104714" y="792480"/>
                    <a:pt x="8148737" y="866140"/>
                    <a:pt x="8172949" y="942340"/>
                  </a:cubicBezTo>
                  <a:cubicBezTo>
                    <a:pt x="8208169" y="1049020"/>
                    <a:pt x="8225779" y="1158240"/>
                    <a:pt x="8252192" y="1266190"/>
                  </a:cubicBezTo>
                  <a:cubicBezTo>
                    <a:pt x="8260997" y="1301750"/>
                    <a:pt x="8272002" y="1337310"/>
                    <a:pt x="8276405" y="1372870"/>
                  </a:cubicBezTo>
                  <a:cubicBezTo>
                    <a:pt x="8289612" y="1474470"/>
                    <a:pt x="8298417" y="1574800"/>
                    <a:pt x="8309422" y="1676400"/>
                  </a:cubicBezTo>
                  <a:cubicBezTo>
                    <a:pt x="8324831" y="1802130"/>
                    <a:pt x="8346842" y="1926590"/>
                    <a:pt x="8357849" y="2052320"/>
                  </a:cubicBezTo>
                  <a:cubicBezTo>
                    <a:pt x="8368854" y="2172970"/>
                    <a:pt x="8373934" y="2294890"/>
                    <a:pt x="8371394" y="2416810"/>
                  </a:cubicBezTo>
                  <a:cubicBezTo>
                    <a:pt x="8366653" y="2620010"/>
                    <a:pt x="8349043" y="2821940"/>
                    <a:pt x="8331434" y="3025140"/>
                  </a:cubicBezTo>
                  <a:cubicBezTo>
                    <a:pt x="8320429" y="3150870"/>
                    <a:pt x="8305020" y="3275330"/>
                    <a:pt x="8283008" y="3399790"/>
                  </a:cubicBezTo>
                  <a:cubicBezTo>
                    <a:pt x="8260997" y="3524250"/>
                    <a:pt x="8227979" y="3647440"/>
                    <a:pt x="8203767" y="3771900"/>
                  </a:cubicBezTo>
                  <a:cubicBezTo>
                    <a:pt x="8186157" y="3858260"/>
                    <a:pt x="8181755" y="3944620"/>
                    <a:pt x="8161944" y="4029710"/>
                  </a:cubicBezTo>
                  <a:cubicBezTo>
                    <a:pt x="8144335" y="4107180"/>
                    <a:pt x="8078299" y="4175760"/>
                    <a:pt x="7990253" y="4232910"/>
                  </a:cubicBezTo>
                  <a:cubicBezTo>
                    <a:pt x="7917614" y="4281170"/>
                    <a:pt x="7860384" y="4335780"/>
                    <a:pt x="7785544" y="4382770"/>
                  </a:cubicBezTo>
                  <a:cubicBezTo>
                    <a:pt x="7719509" y="4424680"/>
                    <a:pt x="7646870" y="4466590"/>
                    <a:pt x="7532409" y="4467860"/>
                  </a:cubicBezTo>
                  <a:cubicBezTo>
                    <a:pt x="7505995" y="4467860"/>
                    <a:pt x="7481782" y="4483100"/>
                    <a:pt x="7455368" y="4490720"/>
                  </a:cubicBezTo>
                  <a:cubicBezTo>
                    <a:pt x="7343108" y="4518660"/>
                    <a:pt x="7226446" y="4542790"/>
                    <a:pt x="7116387" y="4573270"/>
                  </a:cubicBezTo>
                  <a:cubicBezTo>
                    <a:pt x="6913880" y="4629150"/>
                    <a:pt x="6695964" y="4638040"/>
                    <a:pt x="6478048" y="4643120"/>
                  </a:cubicBezTo>
                  <a:cubicBezTo>
                    <a:pt x="6394403" y="4645660"/>
                    <a:pt x="6308558" y="4641850"/>
                    <a:pt x="6224913" y="4645660"/>
                  </a:cubicBezTo>
                  <a:cubicBezTo>
                    <a:pt x="6183091" y="4646930"/>
                    <a:pt x="6143470" y="4658360"/>
                    <a:pt x="6103848" y="4663440"/>
                  </a:cubicBezTo>
                  <a:cubicBezTo>
                    <a:pt x="6086239" y="4665980"/>
                    <a:pt x="6068630" y="4664710"/>
                    <a:pt x="6048819" y="4665980"/>
                  </a:cubicBezTo>
                  <a:cubicBezTo>
                    <a:pt x="6022405" y="4667250"/>
                    <a:pt x="5995991" y="4671060"/>
                    <a:pt x="5969577" y="4669790"/>
                  </a:cubicBezTo>
                  <a:cubicBezTo>
                    <a:pt x="5943163" y="4667250"/>
                    <a:pt x="5925554" y="4662170"/>
                    <a:pt x="5921151" y="4662170"/>
                  </a:cubicBezTo>
                  <a:close/>
                </a:path>
              </a:pathLst>
            </a:custGeom>
            <a:blipFill>
              <a:blip r:embed="rId4"/>
              <a:stretch>
                <a:fillRect l="-123" t="-26" r="-104" b="-2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417596" y="1882592"/>
            <a:ext cx="4007656" cy="2409735"/>
            <a:chOff x="0" y="0"/>
            <a:chExt cx="7844527" cy="4716780"/>
          </a:xfrm>
        </p:grpSpPr>
        <p:sp>
          <p:nvSpPr>
            <p:cNvPr id="21" name="Freeform 21"/>
            <p:cNvSpPr/>
            <p:nvPr/>
          </p:nvSpPr>
          <p:spPr>
            <a:xfrm>
              <a:off x="0" y="-7620"/>
              <a:ext cx="7849607" cy="4726940"/>
            </a:xfrm>
            <a:custGeom>
              <a:avLst/>
              <a:gdLst/>
              <a:ahLst/>
              <a:cxnLst/>
              <a:rect l="l" t="t" r="r" b="b"/>
              <a:pathLst>
                <a:path w="7849607" h="4726940">
                  <a:moveTo>
                    <a:pt x="5550178" y="4662170"/>
                  </a:moveTo>
                  <a:cubicBezTo>
                    <a:pt x="5504786" y="4669790"/>
                    <a:pt x="5469711" y="4679950"/>
                    <a:pt x="5434635" y="4682490"/>
                  </a:cubicBezTo>
                  <a:cubicBezTo>
                    <a:pt x="5236562" y="4692650"/>
                    <a:pt x="5040552" y="4702810"/>
                    <a:pt x="4842479" y="4711700"/>
                  </a:cubicBezTo>
                  <a:cubicBezTo>
                    <a:pt x="4741379" y="4715510"/>
                    <a:pt x="4640279" y="4719320"/>
                    <a:pt x="4539179" y="4720590"/>
                  </a:cubicBezTo>
                  <a:cubicBezTo>
                    <a:pt x="4429826" y="4723130"/>
                    <a:pt x="4320473" y="4726940"/>
                    <a:pt x="4213184" y="4724400"/>
                  </a:cubicBezTo>
                  <a:cubicBezTo>
                    <a:pt x="4110020" y="4723130"/>
                    <a:pt x="4006857" y="4719320"/>
                    <a:pt x="3907820" y="4707890"/>
                  </a:cubicBezTo>
                  <a:cubicBezTo>
                    <a:pt x="3779898" y="4693920"/>
                    <a:pt x="3649912" y="4693920"/>
                    <a:pt x="3524054" y="4681220"/>
                  </a:cubicBezTo>
                  <a:cubicBezTo>
                    <a:pt x="3195995" y="4648200"/>
                    <a:pt x="2861746" y="4657090"/>
                    <a:pt x="2531624" y="4643120"/>
                  </a:cubicBezTo>
                  <a:cubicBezTo>
                    <a:pt x="2345930" y="4635500"/>
                    <a:pt x="2160237" y="4617720"/>
                    <a:pt x="1974543" y="4602480"/>
                  </a:cubicBezTo>
                  <a:cubicBezTo>
                    <a:pt x="1764090" y="4585970"/>
                    <a:pt x="1553637" y="4566920"/>
                    <a:pt x="1341121" y="4549140"/>
                  </a:cubicBezTo>
                  <a:cubicBezTo>
                    <a:pt x="1186376" y="4536440"/>
                    <a:pt x="1029568" y="4523740"/>
                    <a:pt x="874824" y="4511040"/>
                  </a:cubicBezTo>
                  <a:cubicBezTo>
                    <a:pt x="870697" y="4511040"/>
                    <a:pt x="866571" y="4509770"/>
                    <a:pt x="862444" y="4509770"/>
                  </a:cubicBezTo>
                  <a:cubicBezTo>
                    <a:pt x="732458" y="4475480"/>
                    <a:pt x="594220" y="4448810"/>
                    <a:pt x="474551" y="4404360"/>
                  </a:cubicBezTo>
                  <a:cubicBezTo>
                    <a:pt x="272351" y="4328160"/>
                    <a:pt x="185694" y="4206240"/>
                    <a:pt x="177441" y="4062730"/>
                  </a:cubicBezTo>
                  <a:cubicBezTo>
                    <a:pt x="175377" y="4013200"/>
                    <a:pt x="165061" y="3964940"/>
                    <a:pt x="165061" y="3915410"/>
                  </a:cubicBezTo>
                  <a:cubicBezTo>
                    <a:pt x="167124" y="3846830"/>
                    <a:pt x="175377" y="3779520"/>
                    <a:pt x="181567" y="3712210"/>
                  </a:cubicBezTo>
                  <a:cubicBezTo>
                    <a:pt x="198073" y="3511550"/>
                    <a:pt x="206326" y="3310890"/>
                    <a:pt x="181567" y="3110230"/>
                  </a:cubicBezTo>
                  <a:cubicBezTo>
                    <a:pt x="158871" y="2929890"/>
                    <a:pt x="138239" y="2750820"/>
                    <a:pt x="115543" y="2570480"/>
                  </a:cubicBezTo>
                  <a:cubicBezTo>
                    <a:pt x="101100" y="2454910"/>
                    <a:pt x="82531" y="2340610"/>
                    <a:pt x="70151" y="2225040"/>
                  </a:cubicBezTo>
                  <a:cubicBezTo>
                    <a:pt x="61898" y="2148840"/>
                    <a:pt x="63961" y="2071370"/>
                    <a:pt x="55708" y="1995170"/>
                  </a:cubicBezTo>
                  <a:cubicBezTo>
                    <a:pt x="51582" y="1951990"/>
                    <a:pt x="28886" y="1910080"/>
                    <a:pt x="26822" y="1866900"/>
                  </a:cubicBezTo>
                  <a:cubicBezTo>
                    <a:pt x="18569" y="1762760"/>
                    <a:pt x="16506" y="1657350"/>
                    <a:pt x="12380" y="1551940"/>
                  </a:cubicBezTo>
                  <a:cubicBezTo>
                    <a:pt x="10316" y="1511300"/>
                    <a:pt x="0" y="1470660"/>
                    <a:pt x="2063" y="1430020"/>
                  </a:cubicBezTo>
                  <a:cubicBezTo>
                    <a:pt x="4127" y="1366520"/>
                    <a:pt x="16506" y="1303020"/>
                    <a:pt x="18569" y="1239520"/>
                  </a:cubicBezTo>
                  <a:cubicBezTo>
                    <a:pt x="20633" y="1165860"/>
                    <a:pt x="8253" y="1092200"/>
                    <a:pt x="12380" y="1019810"/>
                  </a:cubicBezTo>
                  <a:cubicBezTo>
                    <a:pt x="12380" y="949960"/>
                    <a:pt x="26822" y="881380"/>
                    <a:pt x="41265" y="811530"/>
                  </a:cubicBezTo>
                  <a:cubicBezTo>
                    <a:pt x="45392" y="787400"/>
                    <a:pt x="74277" y="765810"/>
                    <a:pt x="82531" y="741680"/>
                  </a:cubicBezTo>
                  <a:cubicBezTo>
                    <a:pt x="117606" y="622300"/>
                    <a:pt x="154745" y="502920"/>
                    <a:pt x="245528" y="392430"/>
                  </a:cubicBezTo>
                  <a:cubicBezTo>
                    <a:pt x="266161" y="368300"/>
                    <a:pt x="299173" y="346710"/>
                    <a:pt x="330122" y="327660"/>
                  </a:cubicBezTo>
                  <a:cubicBezTo>
                    <a:pt x="340438" y="321310"/>
                    <a:pt x="365198" y="325120"/>
                    <a:pt x="371387" y="325120"/>
                  </a:cubicBezTo>
                  <a:cubicBezTo>
                    <a:pt x="385830" y="308610"/>
                    <a:pt x="394083" y="292100"/>
                    <a:pt x="410589" y="284480"/>
                  </a:cubicBezTo>
                  <a:cubicBezTo>
                    <a:pt x="499310" y="242570"/>
                    <a:pt x="592157" y="212090"/>
                    <a:pt x="707699" y="204470"/>
                  </a:cubicBezTo>
                  <a:cubicBezTo>
                    <a:pt x="794356" y="198120"/>
                    <a:pt x="878950" y="175260"/>
                    <a:pt x="965607" y="162560"/>
                  </a:cubicBezTo>
                  <a:cubicBezTo>
                    <a:pt x="1070834" y="147320"/>
                    <a:pt x="1176060" y="129540"/>
                    <a:pt x="1285413" y="120650"/>
                  </a:cubicBezTo>
                  <a:cubicBezTo>
                    <a:pt x="1384450" y="113030"/>
                    <a:pt x="1479360" y="96520"/>
                    <a:pt x="1580460" y="91440"/>
                  </a:cubicBezTo>
                  <a:cubicBezTo>
                    <a:pt x="1683623" y="86360"/>
                    <a:pt x="1786786" y="71120"/>
                    <a:pt x="1892012" y="66040"/>
                  </a:cubicBezTo>
                  <a:cubicBezTo>
                    <a:pt x="2176743" y="53340"/>
                    <a:pt x="2463536" y="44450"/>
                    <a:pt x="2748267" y="34290"/>
                  </a:cubicBezTo>
                  <a:cubicBezTo>
                    <a:pt x="2818418" y="31750"/>
                    <a:pt x="2888569" y="34290"/>
                    <a:pt x="2958719" y="35560"/>
                  </a:cubicBezTo>
                  <a:cubicBezTo>
                    <a:pt x="2993795" y="36830"/>
                    <a:pt x="3028871" y="41910"/>
                    <a:pt x="3066009" y="44450"/>
                  </a:cubicBezTo>
                  <a:cubicBezTo>
                    <a:pt x="3082515" y="45720"/>
                    <a:pt x="3099021" y="41910"/>
                    <a:pt x="3115527" y="41910"/>
                  </a:cubicBezTo>
                  <a:cubicBezTo>
                    <a:pt x="3165046" y="41910"/>
                    <a:pt x="3216627" y="41910"/>
                    <a:pt x="3266146" y="40640"/>
                  </a:cubicBezTo>
                  <a:cubicBezTo>
                    <a:pt x="3361056" y="38100"/>
                    <a:pt x="3458029" y="31750"/>
                    <a:pt x="3552939" y="31750"/>
                  </a:cubicBezTo>
                  <a:cubicBezTo>
                    <a:pt x="3645786" y="31750"/>
                    <a:pt x="3738633" y="35560"/>
                    <a:pt x="3831480" y="38100"/>
                  </a:cubicBezTo>
                  <a:lnTo>
                    <a:pt x="3905757" y="38100"/>
                  </a:lnTo>
                  <a:cubicBezTo>
                    <a:pt x="4019237" y="35560"/>
                    <a:pt x="4130653" y="35560"/>
                    <a:pt x="4244132" y="31750"/>
                  </a:cubicBezTo>
                  <a:cubicBezTo>
                    <a:pt x="4353485" y="27940"/>
                    <a:pt x="4460775" y="19050"/>
                    <a:pt x="4570128" y="15240"/>
                  </a:cubicBezTo>
                  <a:cubicBezTo>
                    <a:pt x="4621710" y="12700"/>
                    <a:pt x="4675355" y="12700"/>
                    <a:pt x="4726936" y="19050"/>
                  </a:cubicBezTo>
                  <a:cubicBezTo>
                    <a:pt x="4805340" y="27940"/>
                    <a:pt x="4879618" y="33020"/>
                    <a:pt x="4958022" y="19050"/>
                  </a:cubicBezTo>
                  <a:cubicBezTo>
                    <a:pt x="4986907" y="13970"/>
                    <a:pt x="5024046" y="22860"/>
                    <a:pt x="5057058" y="25400"/>
                  </a:cubicBezTo>
                  <a:cubicBezTo>
                    <a:pt x="5071501" y="26670"/>
                    <a:pt x="5088007" y="29210"/>
                    <a:pt x="5096260" y="25400"/>
                  </a:cubicBezTo>
                  <a:cubicBezTo>
                    <a:pt x="5151968" y="0"/>
                    <a:pt x="5203550" y="6350"/>
                    <a:pt x="5257195" y="27940"/>
                  </a:cubicBezTo>
                  <a:cubicBezTo>
                    <a:pt x="5263385" y="30480"/>
                    <a:pt x="5279891" y="24130"/>
                    <a:pt x="5292270" y="24130"/>
                  </a:cubicBezTo>
                  <a:cubicBezTo>
                    <a:pt x="5341788" y="24130"/>
                    <a:pt x="5391307" y="24130"/>
                    <a:pt x="5442888" y="25400"/>
                  </a:cubicBezTo>
                  <a:cubicBezTo>
                    <a:pt x="5480027" y="26670"/>
                    <a:pt x="5515103" y="34290"/>
                    <a:pt x="5552242" y="36830"/>
                  </a:cubicBezTo>
                  <a:cubicBezTo>
                    <a:pt x="5632709" y="43180"/>
                    <a:pt x="5715239" y="53340"/>
                    <a:pt x="5797770" y="53340"/>
                  </a:cubicBezTo>
                  <a:cubicBezTo>
                    <a:pt x="5952515" y="54610"/>
                    <a:pt x="6107259" y="58420"/>
                    <a:pt x="6259941" y="78740"/>
                  </a:cubicBezTo>
                  <a:cubicBezTo>
                    <a:pt x="6402306" y="97790"/>
                    <a:pt x="6548797" y="97790"/>
                    <a:pt x="6693226" y="113030"/>
                  </a:cubicBezTo>
                  <a:cubicBezTo>
                    <a:pt x="6779883" y="121920"/>
                    <a:pt x="6868603" y="138430"/>
                    <a:pt x="6942881" y="165100"/>
                  </a:cubicBezTo>
                  <a:cubicBezTo>
                    <a:pt x="7023348" y="193040"/>
                    <a:pt x="7085246" y="238760"/>
                    <a:pt x="7157460" y="276860"/>
                  </a:cubicBezTo>
                  <a:cubicBezTo>
                    <a:pt x="7184283" y="290830"/>
                    <a:pt x="7223485" y="300990"/>
                    <a:pt x="7242054" y="318770"/>
                  </a:cubicBezTo>
                  <a:cubicBezTo>
                    <a:pt x="7295699" y="367030"/>
                    <a:pt x="7343154" y="417830"/>
                    <a:pt x="7390609" y="468630"/>
                  </a:cubicBezTo>
                  <a:cubicBezTo>
                    <a:pt x="7425684" y="505460"/>
                    <a:pt x="7460760" y="543560"/>
                    <a:pt x="7487583" y="581660"/>
                  </a:cubicBezTo>
                  <a:cubicBezTo>
                    <a:pt x="7516468" y="626110"/>
                    <a:pt x="7539164" y="671830"/>
                    <a:pt x="7561860" y="718820"/>
                  </a:cubicBezTo>
                  <a:cubicBezTo>
                    <a:pt x="7596936" y="792480"/>
                    <a:pt x="7638200" y="866140"/>
                    <a:pt x="7660896" y="942340"/>
                  </a:cubicBezTo>
                  <a:cubicBezTo>
                    <a:pt x="7693909" y="1049020"/>
                    <a:pt x="7710415" y="1158240"/>
                    <a:pt x="7735174" y="1266190"/>
                  </a:cubicBezTo>
                  <a:cubicBezTo>
                    <a:pt x="7743427" y="1301750"/>
                    <a:pt x="7753743" y="1337310"/>
                    <a:pt x="7757870" y="1372870"/>
                  </a:cubicBezTo>
                  <a:cubicBezTo>
                    <a:pt x="7770250" y="1474470"/>
                    <a:pt x="7778503" y="1574800"/>
                    <a:pt x="7788819" y="1676400"/>
                  </a:cubicBezTo>
                  <a:cubicBezTo>
                    <a:pt x="7803262" y="1802130"/>
                    <a:pt x="7823895" y="1926590"/>
                    <a:pt x="7834211" y="2052320"/>
                  </a:cubicBezTo>
                  <a:cubicBezTo>
                    <a:pt x="7844527" y="2172970"/>
                    <a:pt x="7849607" y="2294890"/>
                    <a:pt x="7847067" y="2416810"/>
                  </a:cubicBezTo>
                  <a:cubicBezTo>
                    <a:pt x="7842464" y="2620010"/>
                    <a:pt x="7825957" y="2821940"/>
                    <a:pt x="7809451" y="3025140"/>
                  </a:cubicBezTo>
                  <a:cubicBezTo>
                    <a:pt x="7799135" y="3150870"/>
                    <a:pt x="7784692" y="3275330"/>
                    <a:pt x="7764059" y="3399790"/>
                  </a:cubicBezTo>
                  <a:cubicBezTo>
                    <a:pt x="7743427" y="3524250"/>
                    <a:pt x="7712478" y="3647440"/>
                    <a:pt x="7689783" y="3771900"/>
                  </a:cubicBezTo>
                  <a:cubicBezTo>
                    <a:pt x="7673276" y="3858260"/>
                    <a:pt x="7669150" y="3944620"/>
                    <a:pt x="7650580" y="4029710"/>
                  </a:cubicBezTo>
                  <a:cubicBezTo>
                    <a:pt x="7634074" y="4107180"/>
                    <a:pt x="7572176" y="4175760"/>
                    <a:pt x="7489646" y="4232910"/>
                  </a:cubicBezTo>
                  <a:cubicBezTo>
                    <a:pt x="7421558" y="4281170"/>
                    <a:pt x="7367913" y="4335780"/>
                    <a:pt x="7297762" y="4382770"/>
                  </a:cubicBezTo>
                  <a:cubicBezTo>
                    <a:pt x="7235865" y="4424680"/>
                    <a:pt x="7167776" y="4466590"/>
                    <a:pt x="7060487" y="4467860"/>
                  </a:cubicBezTo>
                  <a:cubicBezTo>
                    <a:pt x="7035728" y="4467860"/>
                    <a:pt x="7013032" y="4483100"/>
                    <a:pt x="6988273" y="4490720"/>
                  </a:cubicBezTo>
                  <a:cubicBezTo>
                    <a:pt x="6883047" y="4518660"/>
                    <a:pt x="6773693" y="4542790"/>
                    <a:pt x="6670530" y="4573270"/>
                  </a:cubicBezTo>
                  <a:cubicBezTo>
                    <a:pt x="6480710" y="4629150"/>
                    <a:pt x="6276447" y="4638040"/>
                    <a:pt x="6072184" y="4643120"/>
                  </a:cubicBezTo>
                  <a:cubicBezTo>
                    <a:pt x="5993780" y="4645660"/>
                    <a:pt x="5913313" y="4641850"/>
                    <a:pt x="5834908" y="4645660"/>
                  </a:cubicBezTo>
                  <a:cubicBezTo>
                    <a:pt x="5795706" y="4646930"/>
                    <a:pt x="5758568" y="4658360"/>
                    <a:pt x="5721429" y="4663440"/>
                  </a:cubicBezTo>
                  <a:cubicBezTo>
                    <a:pt x="5704923" y="4665980"/>
                    <a:pt x="5688417" y="4664710"/>
                    <a:pt x="5669847" y="4665980"/>
                  </a:cubicBezTo>
                  <a:cubicBezTo>
                    <a:pt x="5645088" y="4667250"/>
                    <a:pt x="5620329" y="4671060"/>
                    <a:pt x="5595570" y="4669790"/>
                  </a:cubicBezTo>
                  <a:cubicBezTo>
                    <a:pt x="5570811" y="4667250"/>
                    <a:pt x="5554305" y="4662170"/>
                    <a:pt x="5550178" y="4662170"/>
                  </a:cubicBezTo>
                  <a:close/>
                </a:path>
              </a:pathLst>
            </a:custGeom>
            <a:blipFill>
              <a:blip r:embed="rId5"/>
              <a:stretch>
                <a:fillRect l="-22" t="-1376" r="-6" b="-1378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7469090" y="1384472"/>
            <a:ext cx="3349821" cy="3272287"/>
            <a:chOff x="0" y="0"/>
            <a:chExt cx="4828540" cy="4716780"/>
          </a:xfrm>
        </p:grpSpPr>
        <p:sp>
          <p:nvSpPr>
            <p:cNvPr id="23" name="Freeform 23"/>
            <p:cNvSpPr/>
            <p:nvPr/>
          </p:nvSpPr>
          <p:spPr>
            <a:xfrm>
              <a:off x="0" y="-7620"/>
              <a:ext cx="4833620" cy="4726940"/>
            </a:xfrm>
            <a:custGeom>
              <a:avLst/>
              <a:gdLst/>
              <a:ahLst/>
              <a:cxnLst/>
              <a:rect l="l" t="t" r="r" b="b"/>
              <a:pathLst>
                <a:path w="4833620" h="4726940">
                  <a:moveTo>
                    <a:pt x="3416300" y="4662170"/>
                  </a:moveTo>
                  <a:cubicBezTo>
                    <a:pt x="3388360" y="4669790"/>
                    <a:pt x="3366770" y="4679950"/>
                    <a:pt x="3345180" y="4682490"/>
                  </a:cubicBezTo>
                  <a:cubicBezTo>
                    <a:pt x="3223260" y="4692650"/>
                    <a:pt x="3102610" y="4702810"/>
                    <a:pt x="2980690" y="4711700"/>
                  </a:cubicBezTo>
                  <a:cubicBezTo>
                    <a:pt x="2918460" y="4715510"/>
                    <a:pt x="2856230" y="4719320"/>
                    <a:pt x="2794000" y="4720590"/>
                  </a:cubicBezTo>
                  <a:cubicBezTo>
                    <a:pt x="2726690" y="4723130"/>
                    <a:pt x="2659380" y="4726940"/>
                    <a:pt x="2593340" y="4724400"/>
                  </a:cubicBezTo>
                  <a:cubicBezTo>
                    <a:pt x="2529840" y="4723130"/>
                    <a:pt x="2466340" y="4719320"/>
                    <a:pt x="2405380" y="4707890"/>
                  </a:cubicBezTo>
                  <a:cubicBezTo>
                    <a:pt x="2326640" y="4693920"/>
                    <a:pt x="2246630" y="4693920"/>
                    <a:pt x="2169160" y="4681220"/>
                  </a:cubicBezTo>
                  <a:cubicBezTo>
                    <a:pt x="1967230" y="4648200"/>
                    <a:pt x="1761490" y="4657090"/>
                    <a:pt x="1558290" y="4643120"/>
                  </a:cubicBezTo>
                  <a:cubicBezTo>
                    <a:pt x="1443990" y="4635500"/>
                    <a:pt x="1329690" y="4617720"/>
                    <a:pt x="1215390" y="4602480"/>
                  </a:cubicBezTo>
                  <a:cubicBezTo>
                    <a:pt x="1085850" y="4585970"/>
                    <a:pt x="956310" y="4566920"/>
                    <a:pt x="825500" y="4549140"/>
                  </a:cubicBezTo>
                  <a:cubicBezTo>
                    <a:pt x="730250" y="4536440"/>
                    <a:pt x="633730" y="4523740"/>
                    <a:pt x="538480" y="4511040"/>
                  </a:cubicBezTo>
                  <a:cubicBezTo>
                    <a:pt x="535940" y="4511040"/>
                    <a:pt x="533400" y="4509770"/>
                    <a:pt x="530860" y="4509770"/>
                  </a:cubicBezTo>
                  <a:cubicBezTo>
                    <a:pt x="450850" y="4475480"/>
                    <a:pt x="365760" y="4448810"/>
                    <a:pt x="292100" y="4404360"/>
                  </a:cubicBezTo>
                  <a:cubicBezTo>
                    <a:pt x="167640" y="4328160"/>
                    <a:pt x="114300" y="4206240"/>
                    <a:pt x="109220" y="4062730"/>
                  </a:cubicBezTo>
                  <a:cubicBezTo>
                    <a:pt x="107950" y="4013200"/>
                    <a:pt x="101600" y="3964940"/>
                    <a:pt x="101600" y="3915410"/>
                  </a:cubicBezTo>
                  <a:cubicBezTo>
                    <a:pt x="102870" y="3846830"/>
                    <a:pt x="107950" y="3779520"/>
                    <a:pt x="111760" y="3712210"/>
                  </a:cubicBezTo>
                  <a:cubicBezTo>
                    <a:pt x="121920" y="3511550"/>
                    <a:pt x="127000" y="3310890"/>
                    <a:pt x="111760" y="3110230"/>
                  </a:cubicBezTo>
                  <a:cubicBezTo>
                    <a:pt x="97790" y="2929890"/>
                    <a:pt x="85090" y="2750820"/>
                    <a:pt x="71120" y="2570480"/>
                  </a:cubicBezTo>
                  <a:cubicBezTo>
                    <a:pt x="62230" y="2454910"/>
                    <a:pt x="50800" y="2340610"/>
                    <a:pt x="43180" y="2225040"/>
                  </a:cubicBezTo>
                  <a:cubicBezTo>
                    <a:pt x="38100" y="2148840"/>
                    <a:pt x="39370" y="2071370"/>
                    <a:pt x="34290" y="1995170"/>
                  </a:cubicBezTo>
                  <a:cubicBezTo>
                    <a:pt x="31750" y="1951990"/>
                    <a:pt x="17780" y="1910080"/>
                    <a:pt x="16510" y="1866900"/>
                  </a:cubicBezTo>
                  <a:cubicBezTo>
                    <a:pt x="11430" y="1762760"/>
                    <a:pt x="10160" y="1657350"/>
                    <a:pt x="7620" y="1551940"/>
                  </a:cubicBezTo>
                  <a:cubicBezTo>
                    <a:pt x="6350" y="1511300"/>
                    <a:pt x="0" y="1470660"/>
                    <a:pt x="1270" y="1430020"/>
                  </a:cubicBezTo>
                  <a:cubicBezTo>
                    <a:pt x="2540" y="1366520"/>
                    <a:pt x="10160" y="1303020"/>
                    <a:pt x="11430" y="1239520"/>
                  </a:cubicBezTo>
                  <a:cubicBezTo>
                    <a:pt x="12700" y="1165860"/>
                    <a:pt x="5080" y="1092200"/>
                    <a:pt x="7620" y="1019810"/>
                  </a:cubicBezTo>
                  <a:cubicBezTo>
                    <a:pt x="7620" y="949960"/>
                    <a:pt x="16510" y="881380"/>
                    <a:pt x="25400" y="811530"/>
                  </a:cubicBezTo>
                  <a:cubicBezTo>
                    <a:pt x="27940" y="787400"/>
                    <a:pt x="45720" y="765810"/>
                    <a:pt x="50800" y="741680"/>
                  </a:cubicBezTo>
                  <a:cubicBezTo>
                    <a:pt x="72390" y="622300"/>
                    <a:pt x="95250" y="502920"/>
                    <a:pt x="151130" y="392430"/>
                  </a:cubicBezTo>
                  <a:cubicBezTo>
                    <a:pt x="163830" y="368300"/>
                    <a:pt x="184150" y="346710"/>
                    <a:pt x="203200" y="327660"/>
                  </a:cubicBezTo>
                  <a:cubicBezTo>
                    <a:pt x="209550" y="321310"/>
                    <a:pt x="224790" y="325120"/>
                    <a:pt x="228600" y="325120"/>
                  </a:cubicBezTo>
                  <a:cubicBezTo>
                    <a:pt x="237490" y="308610"/>
                    <a:pt x="242570" y="292100"/>
                    <a:pt x="252730" y="284480"/>
                  </a:cubicBezTo>
                  <a:cubicBezTo>
                    <a:pt x="307340" y="242570"/>
                    <a:pt x="364490" y="212090"/>
                    <a:pt x="435610" y="204470"/>
                  </a:cubicBezTo>
                  <a:cubicBezTo>
                    <a:pt x="488950" y="198120"/>
                    <a:pt x="541020" y="175260"/>
                    <a:pt x="594360" y="162560"/>
                  </a:cubicBezTo>
                  <a:cubicBezTo>
                    <a:pt x="659130" y="147320"/>
                    <a:pt x="723900" y="129540"/>
                    <a:pt x="791210" y="120650"/>
                  </a:cubicBezTo>
                  <a:cubicBezTo>
                    <a:pt x="852170" y="113030"/>
                    <a:pt x="910590" y="96520"/>
                    <a:pt x="972820" y="91440"/>
                  </a:cubicBezTo>
                  <a:cubicBezTo>
                    <a:pt x="1036320" y="86360"/>
                    <a:pt x="1099820" y="71120"/>
                    <a:pt x="1164590" y="66040"/>
                  </a:cubicBezTo>
                  <a:cubicBezTo>
                    <a:pt x="1339850" y="53340"/>
                    <a:pt x="1516380" y="44450"/>
                    <a:pt x="1691640" y="34290"/>
                  </a:cubicBezTo>
                  <a:cubicBezTo>
                    <a:pt x="1734820" y="31750"/>
                    <a:pt x="1778000" y="34290"/>
                    <a:pt x="1821180" y="35560"/>
                  </a:cubicBezTo>
                  <a:cubicBezTo>
                    <a:pt x="1842770" y="36830"/>
                    <a:pt x="1864360" y="41910"/>
                    <a:pt x="1887220" y="44450"/>
                  </a:cubicBezTo>
                  <a:cubicBezTo>
                    <a:pt x="1897380" y="45720"/>
                    <a:pt x="1907540" y="41910"/>
                    <a:pt x="1917700" y="41910"/>
                  </a:cubicBezTo>
                  <a:cubicBezTo>
                    <a:pt x="1948180" y="41910"/>
                    <a:pt x="1979930" y="41910"/>
                    <a:pt x="2010410" y="40640"/>
                  </a:cubicBezTo>
                  <a:cubicBezTo>
                    <a:pt x="2068830" y="38100"/>
                    <a:pt x="2128520" y="31750"/>
                    <a:pt x="2186940" y="31750"/>
                  </a:cubicBezTo>
                  <a:cubicBezTo>
                    <a:pt x="2244090" y="31750"/>
                    <a:pt x="2301240" y="35560"/>
                    <a:pt x="2358390" y="38100"/>
                  </a:cubicBezTo>
                  <a:lnTo>
                    <a:pt x="2404110" y="38100"/>
                  </a:lnTo>
                  <a:cubicBezTo>
                    <a:pt x="2473960" y="35560"/>
                    <a:pt x="2542540" y="35560"/>
                    <a:pt x="2612390" y="31750"/>
                  </a:cubicBezTo>
                  <a:cubicBezTo>
                    <a:pt x="2679700" y="27940"/>
                    <a:pt x="2745740" y="19050"/>
                    <a:pt x="2813050" y="15240"/>
                  </a:cubicBezTo>
                  <a:cubicBezTo>
                    <a:pt x="2844800" y="12700"/>
                    <a:pt x="2877820" y="12700"/>
                    <a:pt x="2909570" y="19050"/>
                  </a:cubicBezTo>
                  <a:cubicBezTo>
                    <a:pt x="2957830" y="27940"/>
                    <a:pt x="3003550" y="33020"/>
                    <a:pt x="3051810" y="19050"/>
                  </a:cubicBezTo>
                  <a:cubicBezTo>
                    <a:pt x="3069590" y="13970"/>
                    <a:pt x="3092450" y="22860"/>
                    <a:pt x="3112770" y="25400"/>
                  </a:cubicBezTo>
                  <a:cubicBezTo>
                    <a:pt x="3121660" y="26670"/>
                    <a:pt x="3131820" y="29210"/>
                    <a:pt x="3136900" y="25400"/>
                  </a:cubicBezTo>
                  <a:cubicBezTo>
                    <a:pt x="3171190" y="0"/>
                    <a:pt x="3202940" y="6350"/>
                    <a:pt x="3235960" y="27940"/>
                  </a:cubicBezTo>
                  <a:cubicBezTo>
                    <a:pt x="3239770" y="30480"/>
                    <a:pt x="3249930" y="24130"/>
                    <a:pt x="3257550" y="24130"/>
                  </a:cubicBezTo>
                  <a:cubicBezTo>
                    <a:pt x="3288030" y="24130"/>
                    <a:pt x="3318510" y="24130"/>
                    <a:pt x="3350260" y="25400"/>
                  </a:cubicBezTo>
                  <a:cubicBezTo>
                    <a:pt x="3373120" y="26670"/>
                    <a:pt x="3394710" y="34290"/>
                    <a:pt x="3417570" y="36830"/>
                  </a:cubicBezTo>
                  <a:cubicBezTo>
                    <a:pt x="3467100" y="43180"/>
                    <a:pt x="3517900" y="53340"/>
                    <a:pt x="3568700" y="53340"/>
                  </a:cubicBezTo>
                  <a:cubicBezTo>
                    <a:pt x="3663950" y="54610"/>
                    <a:pt x="3759200" y="58420"/>
                    <a:pt x="3853180" y="78740"/>
                  </a:cubicBezTo>
                  <a:cubicBezTo>
                    <a:pt x="3940810" y="97790"/>
                    <a:pt x="4030980" y="97790"/>
                    <a:pt x="4119880" y="113030"/>
                  </a:cubicBezTo>
                  <a:cubicBezTo>
                    <a:pt x="4173220" y="121920"/>
                    <a:pt x="4227830" y="138430"/>
                    <a:pt x="4273550" y="165100"/>
                  </a:cubicBezTo>
                  <a:cubicBezTo>
                    <a:pt x="4323080" y="193040"/>
                    <a:pt x="4361180" y="238760"/>
                    <a:pt x="4405630" y="276860"/>
                  </a:cubicBezTo>
                  <a:cubicBezTo>
                    <a:pt x="4422140" y="290830"/>
                    <a:pt x="4446270" y="300990"/>
                    <a:pt x="4457700" y="318770"/>
                  </a:cubicBezTo>
                  <a:cubicBezTo>
                    <a:pt x="4490720" y="367030"/>
                    <a:pt x="4519930" y="417830"/>
                    <a:pt x="4549140" y="468630"/>
                  </a:cubicBezTo>
                  <a:cubicBezTo>
                    <a:pt x="4570730" y="505460"/>
                    <a:pt x="4592320" y="543560"/>
                    <a:pt x="4608830" y="581660"/>
                  </a:cubicBezTo>
                  <a:cubicBezTo>
                    <a:pt x="4626610" y="626110"/>
                    <a:pt x="4640580" y="671830"/>
                    <a:pt x="4654550" y="718820"/>
                  </a:cubicBezTo>
                  <a:cubicBezTo>
                    <a:pt x="4676140" y="792480"/>
                    <a:pt x="4701540" y="866140"/>
                    <a:pt x="4715510" y="942340"/>
                  </a:cubicBezTo>
                  <a:cubicBezTo>
                    <a:pt x="4735830" y="1049020"/>
                    <a:pt x="4745990" y="1158240"/>
                    <a:pt x="4761230" y="1266190"/>
                  </a:cubicBezTo>
                  <a:cubicBezTo>
                    <a:pt x="4766310" y="1301750"/>
                    <a:pt x="4772660" y="1337310"/>
                    <a:pt x="4775200" y="1372870"/>
                  </a:cubicBezTo>
                  <a:cubicBezTo>
                    <a:pt x="4782820" y="1474470"/>
                    <a:pt x="4787900" y="1574800"/>
                    <a:pt x="4794250" y="1676400"/>
                  </a:cubicBezTo>
                  <a:cubicBezTo>
                    <a:pt x="4803140" y="1802130"/>
                    <a:pt x="4815840" y="1926590"/>
                    <a:pt x="4822190" y="2052320"/>
                  </a:cubicBezTo>
                  <a:cubicBezTo>
                    <a:pt x="4828540" y="2172970"/>
                    <a:pt x="4833620" y="2294890"/>
                    <a:pt x="4831080" y="2416810"/>
                  </a:cubicBezTo>
                  <a:cubicBezTo>
                    <a:pt x="4827270" y="2620010"/>
                    <a:pt x="4817110" y="2821940"/>
                    <a:pt x="4806950" y="3025140"/>
                  </a:cubicBezTo>
                  <a:cubicBezTo>
                    <a:pt x="4800600" y="3150870"/>
                    <a:pt x="4791710" y="3275330"/>
                    <a:pt x="4779010" y="3399790"/>
                  </a:cubicBezTo>
                  <a:cubicBezTo>
                    <a:pt x="4766310" y="3524250"/>
                    <a:pt x="4747260" y="3647440"/>
                    <a:pt x="4733290" y="3771900"/>
                  </a:cubicBezTo>
                  <a:cubicBezTo>
                    <a:pt x="4723130" y="3858260"/>
                    <a:pt x="4720590" y="3944620"/>
                    <a:pt x="4709160" y="4029710"/>
                  </a:cubicBezTo>
                  <a:cubicBezTo>
                    <a:pt x="4699000" y="4107180"/>
                    <a:pt x="4660900" y="4175760"/>
                    <a:pt x="4610100" y="4232910"/>
                  </a:cubicBezTo>
                  <a:cubicBezTo>
                    <a:pt x="4568190" y="4281170"/>
                    <a:pt x="4535170" y="4335780"/>
                    <a:pt x="4491990" y="4382770"/>
                  </a:cubicBezTo>
                  <a:cubicBezTo>
                    <a:pt x="4453890" y="4424680"/>
                    <a:pt x="4411980" y="4466590"/>
                    <a:pt x="4345940" y="4467860"/>
                  </a:cubicBezTo>
                  <a:cubicBezTo>
                    <a:pt x="4330700" y="4467860"/>
                    <a:pt x="4316730" y="4483100"/>
                    <a:pt x="4301490" y="4490720"/>
                  </a:cubicBezTo>
                  <a:cubicBezTo>
                    <a:pt x="4236720" y="4518660"/>
                    <a:pt x="4169410" y="4542790"/>
                    <a:pt x="4105910" y="4573270"/>
                  </a:cubicBezTo>
                  <a:cubicBezTo>
                    <a:pt x="3989070" y="4629150"/>
                    <a:pt x="3863340" y="4638040"/>
                    <a:pt x="3737610" y="4643120"/>
                  </a:cubicBezTo>
                  <a:cubicBezTo>
                    <a:pt x="3689350" y="4645660"/>
                    <a:pt x="3639820" y="4641850"/>
                    <a:pt x="3591560" y="4645660"/>
                  </a:cubicBezTo>
                  <a:cubicBezTo>
                    <a:pt x="3567430" y="4646930"/>
                    <a:pt x="3544570" y="4658360"/>
                    <a:pt x="3521710" y="4663440"/>
                  </a:cubicBezTo>
                  <a:cubicBezTo>
                    <a:pt x="3511550" y="4665980"/>
                    <a:pt x="3501390" y="4664710"/>
                    <a:pt x="3489960" y="4665980"/>
                  </a:cubicBezTo>
                  <a:cubicBezTo>
                    <a:pt x="3474720" y="4667250"/>
                    <a:pt x="3459480" y="4671060"/>
                    <a:pt x="3444240" y="4669790"/>
                  </a:cubicBezTo>
                  <a:cubicBezTo>
                    <a:pt x="3429000" y="4667250"/>
                    <a:pt x="3418840" y="4662170"/>
                    <a:pt x="3416300" y="4662170"/>
                  </a:cubicBezTo>
                  <a:close/>
                </a:path>
              </a:pathLst>
            </a:custGeom>
            <a:blipFill>
              <a:blip r:embed="rId6"/>
              <a:stretch>
                <a:fillRect t="-1553" b="-1553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1028700" y="1747498"/>
            <a:ext cx="3875181" cy="2544829"/>
            <a:chOff x="0" y="0"/>
            <a:chExt cx="4828540" cy="3170899"/>
          </a:xfrm>
        </p:grpSpPr>
        <p:sp>
          <p:nvSpPr>
            <p:cNvPr id="25" name="Freeform 25"/>
            <p:cNvSpPr/>
            <p:nvPr/>
          </p:nvSpPr>
          <p:spPr>
            <a:xfrm>
              <a:off x="0" y="-7620"/>
              <a:ext cx="4833620" cy="3181059"/>
            </a:xfrm>
            <a:custGeom>
              <a:avLst/>
              <a:gdLst/>
              <a:ahLst/>
              <a:cxnLst/>
              <a:rect l="l" t="t" r="r" b="b"/>
              <a:pathLst>
                <a:path w="4833620" h="3181059">
                  <a:moveTo>
                    <a:pt x="3416300" y="3136685"/>
                  </a:moveTo>
                  <a:cubicBezTo>
                    <a:pt x="3388360" y="3141807"/>
                    <a:pt x="3366770" y="3148637"/>
                    <a:pt x="3345180" y="3150345"/>
                  </a:cubicBezTo>
                  <a:cubicBezTo>
                    <a:pt x="3223260" y="3157175"/>
                    <a:pt x="3102610" y="3164005"/>
                    <a:pt x="2980690" y="3169982"/>
                  </a:cubicBezTo>
                  <a:cubicBezTo>
                    <a:pt x="2918460" y="3172543"/>
                    <a:pt x="2856230" y="3175104"/>
                    <a:pt x="2794000" y="3175958"/>
                  </a:cubicBezTo>
                  <a:cubicBezTo>
                    <a:pt x="2726690" y="3177665"/>
                    <a:pt x="2659380" y="3181059"/>
                    <a:pt x="2593340" y="3178519"/>
                  </a:cubicBezTo>
                  <a:cubicBezTo>
                    <a:pt x="2529840" y="3177665"/>
                    <a:pt x="2466340" y="3175104"/>
                    <a:pt x="2405380" y="3167420"/>
                  </a:cubicBezTo>
                  <a:cubicBezTo>
                    <a:pt x="2326640" y="3158029"/>
                    <a:pt x="2246630" y="3158029"/>
                    <a:pt x="2169160" y="3149491"/>
                  </a:cubicBezTo>
                  <a:cubicBezTo>
                    <a:pt x="1967230" y="3127293"/>
                    <a:pt x="1761490" y="3133270"/>
                    <a:pt x="1558290" y="3123878"/>
                  </a:cubicBezTo>
                  <a:cubicBezTo>
                    <a:pt x="1443990" y="3118755"/>
                    <a:pt x="1329690" y="3106803"/>
                    <a:pt x="1215390" y="3096557"/>
                  </a:cubicBezTo>
                  <a:cubicBezTo>
                    <a:pt x="1085850" y="3085458"/>
                    <a:pt x="956310" y="3072652"/>
                    <a:pt x="825500" y="3060699"/>
                  </a:cubicBezTo>
                  <a:cubicBezTo>
                    <a:pt x="730250" y="3052161"/>
                    <a:pt x="633730" y="3043624"/>
                    <a:pt x="538480" y="3035086"/>
                  </a:cubicBezTo>
                  <a:cubicBezTo>
                    <a:pt x="535940" y="3035086"/>
                    <a:pt x="533400" y="3034232"/>
                    <a:pt x="530860" y="3034232"/>
                  </a:cubicBezTo>
                  <a:cubicBezTo>
                    <a:pt x="450850" y="3011180"/>
                    <a:pt x="365760" y="2993252"/>
                    <a:pt x="292100" y="2963369"/>
                  </a:cubicBezTo>
                  <a:cubicBezTo>
                    <a:pt x="167640" y="2912143"/>
                    <a:pt x="114300" y="2830181"/>
                    <a:pt x="109220" y="2733705"/>
                  </a:cubicBezTo>
                  <a:cubicBezTo>
                    <a:pt x="107950" y="2700408"/>
                    <a:pt x="101600" y="2667965"/>
                    <a:pt x="101600" y="2634668"/>
                  </a:cubicBezTo>
                  <a:cubicBezTo>
                    <a:pt x="102870" y="2588565"/>
                    <a:pt x="107950" y="2543315"/>
                    <a:pt x="111760" y="2498065"/>
                  </a:cubicBezTo>
                  <a:cubicBezTo>
                    <a:pt x="121920" y="2363169"/>
                    <a:pt x="127000" y="2228274"/>
                    <a:pt x="111760" y="2093379"/>
                  </a:cubicBezTo>
                  <a:cubicBezTo>
                    <a:pt x="97790" y="1972143"/>
                    <a:pt x="85090" y="1851762"/>
                    <a:pt x="71120" y="1730526"/>
                  </a:cubicBezTo>
                  <a:cubicBezTo>
                    <a:pt x="62230" y="1652834"/>
                    <a:pt x="50800" y="1575994"/>
                    <a:pt x="43180" y="1498301"/>
                  </a:cubicBezTo>
                  <a:cubicBezTo>
                    <a:pt x="38100" y="1447075"/>
                    <a:pt x="39370" y="1394995"/>
                    <a:pt x="34290" y="1343769"/>
                  </a:cubicBezTo>
                  <a:cubicBezTo>
                    <a:pt x="31750" y="1314741"/>
                    <a:pt x="17780" y="1286566"/>
                    <a:pt x="16510" y="1257538"/>
                  </a:cubicBezTo>
                  <a:cubicBezTo>
                    <a:pt x="11430" y="1187529"/>
                    <a:pt x="10160" y="1116666"/>
                    <a:pt x="7620" y="1045804"/>
                  </a:cubicBezTo>
                  <a:cubicBezTo>
                    <a:pt x="6350" y="1018483"/>
                    <a:pt x="0" y="991162"/>
                    <a:pt x="1270" y="963842"/>
                  </a:cubicBezTo>
                  <a:cubicBezTo>
                    <a:pt x="2540" y="921153"/>
                    <a:pt x="10160" y="878465"/>
                    <a:pt x="11430" y="835776"/>
                  </a:cubicBezTo>
                  <a:cubicBezTo>
                    <a:pt x="12700" y="786258"/>
                    <a:pt x="5080" y="736739"/>
                    <a:pt x="7620" y="688074"/>
                  </a:cubicBezTo>
                  <a:cubicBezTo>
                    <a:pt x="7620" y="641117"/>
                    <a:pt x="16510" y="595013"/>
                    <a:pt x="25400" y="548056"/>
                  </a:cubicBezTo>
                  <a:cubicBezTo>
                    <a:pt x="27940" y="531834"/>
                    <a:pt x="45720" y="517320"/>
                    <a:pt x="50800" y="501099"/>
                  </a:cubicBezTo>
                  <a:cubicBezTo>
                    <a:pt x="72390" y="420844"/>
                    <a:pt x="95250" y="340590"/>
                    <a:pt x="151130" y="266312"/>
                  </a:cubicBezTo>
                  <a:cubicBezTo>
                    <a:pt x="163830" y="250090"/>
                    <a:pt x="184150" y="235576"/>
                    <a:pt x="203200" y="222770"/>
                  </a:cubicBezTo>
                  <a:cubicBezTo>
                    <a:pt x="209550" y="218501"/>
                    <a:pt x="224790" y="221062"/>
                    <a:pt x="228600" y="221062"/>
                  </a:cubicBezTo>
                  <a:cubicBezTo>
                    <a:pt x="237490" y="209963"/>
                    <a:pt x="242570" y="198864"/>
                    <a:pt x="252730" y="193742"/>
                  </a:cubicBezTo>
                  <a:cubicBezTo>
                    <a:pt x="307340" y="165567"/>
                    <a:pt x="364490" y="145077"/>
                    <a:pt x="435610" y="139954"/>
                  </a:cubicBezTo>
                  <a:cubicBezTo>
                    <a:pt x="488950" y="135685"/>
                    <a:pt x="541020" y="120318"/>
                    <a:pt x="594360" y="111780"/>
                  </a:cubicBezTo>
                  <a:cubicBezTo>
                    <a:pt x="659130" y="101535"/>
                    <a:pt x="723900" y="89582"/>
                    <a:pt x="791210" y="83605"/>
                  </a:cubicBezTo>
                  <a:cubicBezTo>
                    <a:pt x="852170" y="78483"/>
                    <a:pt x="910590" y="67384"/>
                    <a:pt x="972820" y="63969"/>
                  </a:cubicBezTo>
                  <a:cubicBezTo>
                    <a:pt x="1036320" y="60554"/>
                    <a:pt x="1099820" y="50308"/>
                    <a:pt x="1164590" y="46893"/>
                  </a:cubicBezTo>
                  <a:cubicBezTo>
                    <a:pt x="1339850" y="38356"/>
                    <a:pt x="1516380" y="32379"/>
                    <a:pt x="1691640" y="25549"/>
                  </a:cubicBezTo>
                  <a:cubicBezTo>
                    <a:pt x="1734820" y="23842"/>
                    <a:pt x="1778000" y="25549"/>
                    <a:pt x="1821180" y="26403"/>
                  </a:cubicBezTo>
                  <a:cubicBezTo>
                    <a:pt x="1842770" y="27257"/>
                    <a:pt x="1864360" y="30672"/>
                    <a:pt x="1887220" y="32379"/>
                  </a:cubicBezTo>
                  <a:cubicBezTo>
                    <a:pt x="1897380" y="33233"/>
                    <a:pt x="1907540" y="30672"/>
                    <a:pt x="1917700" y="30672"/>
                  </a:cubicBezTo>
                  <a:cubicBezTo>
                    <a:pt x="1948180" y="30672"/>
                    <a:pt x="1979930" y="30672"/>
                    <a:pt x="2010410" y="29818"/>
                  </a:cubicBezTo>
                  <a:cubicBezTo>
                    <a:pt x="2068830" y="28110"/>
                    <a:pt x="2128520" y="23842"/>
                    <a:pt x="2186940" y="23842"/>
                  </a:cubicBezTo>
                  <a:cubicBezTo>
                    <a:pt x="2244090" y="23842"/>
                    <a:pt x="2301240" y="26403"/>
                    <a:pt x="2358390" y="28110"/>
                  </a:cubicBezTo>
                  <a:lnTo>
                    <a:pt x="2404110" y="28110"/>
                  </a:lnTo>
                  <a:cubicBezTo>
                    <a:pt x="2473960" y="26403"/>
                    <a:pt x="2542540" y="26403"/>
                    <a:pt x="2612390" y="23842"/>
                  </a:cubicBezTo>
                  <a:cubicBezTo>
                    <a:pt x="2679700" y="21280"/>
                    <a:pt x="2745740" y="15304"/>
                    <a:pt x="2813050" y="12743"/>
                  </a:cubicBezTo>
                  <a:cubicBezTo>
                    <a:pt x="2844800" y="11035"/>
                    <a:pt x="2877820" y="11035"/>
                    <a:pt x="2909570" y="15304"/>
                  </a:cubicBezTo>
                  <a:cubicBezTo>
                    <a:pt x="2957830" y="21280"/>
                    <a:pt x="3003550" y="24695"/>
                    <a:pt x="3051810" y="15304"/>
                  </a:cubicBezTo>
                  <a:cubicBezTo>
                    <a:pt x="3069590" y="11889"/>
                    <a:pt x="3092450" y="17865"/>
                    <a:pt x="3112770" y="19573"/>
                  </a:cubicBezTo>
                  <a:cubicBezTo>
                    <a:pt x="3121660" y="20427"/>
                    <a:pt x="3131820" y="22134"/>
                    <a:pt x="3136900" y="19573"/>
                  </a:cubicBezTo>
                  <a:cubicBezTo>
                    <a:pt x="3171190" y="0"/>
                    <a:pt x="3202940" y="6350"/>
                    <a:pt x="3235960" y="21280"/>
                  </a:cubicBezTo>
                  <a:cubicBezTo>
                    <a:pt x="3239770" y="22988"/>
                    <a:pt x="3249930" y="18719"/>
                    <a:pt x="3257550" y="18719"/>
                  </a:cubicBezTo>
                  <a:cubicBezTo>
                    <a:pt x="3288030" y="18719"/>
                    <a:pt x="3318510" y="18719"/>
                    <a:pt x="3350260" y="19573"/>
                  </a:cubicBezTo>
                  <a:cubicBezTo>
                    <a:pt x="3373120" y="20427"/>
                    <a:pt x="3394710" y="25549"/>
                    <a:pt x="3417570" y="27257"/>
                  </a:cubicBezTo>
                  <a:cubicBezTo>
                    <a:pt x="3467100" y="31526"/>
                    <a:pt x="3517900" y="38356"/>
                    <a:pt x="3568700" y="38356"/>
                  </a:cubicBezTo>
                  <a:cubicBezTo>
                    <a:pt x="3663950" y="39209"/>
                    <a:pt x="3759200" y="41771"/>
                    <a:pt x="3853180" y="55431"/>
                  </a:cubicBezTo>
                  <a:cubicBezTo>
                    <a:pt x="3940810" y="68238"/>
                    <a:pt x="4030980" y="68238"/>
                    <a:pt x="4119880" y="78483"/>
                  </a:cubicBezTo>
                  <a:cubicBezTo>
                    <a:pt x="4173220" y="84459"/>
                    <a:pt x="4227830" y="95558"/>
                    <a:pt x="4273550" y="113487"/>
                  </a:cubicBezTo>
                  <a:cubicBezTo>
                    <a:pt x="4323080" y="132270"/>
                    <a:pt x="4361180" y="163006"/>
                    <a:pt x="4405630" y="188619"/>
                  </a:cubicBezTo>
                  <a:cubicBezTo>
                    <a:pt x="4422140" y="198011"/>
                    <a:pt x="4446270" y="204841"/>
                    <a:pt x="4457700" y="216793"/>
                  </a:cubicBezTo>
                  <a:cubicBezTo>
                    <a:pt x="4490720" y="249237"/>
                    <a:pt x="4519930" y="283387"/>
                    <a:pt x="4549140" y="317538"/>
                  </a:cubicBezTo>
                  <a:cubicBezTo>
                    <a:pt x="4570730" y="342298"/>
                    <a:pt x="4592320" y="367911"/>
                    <a:pt x="4608830" y="393524"/>
                  </a:cubicBezTo>
                  <a:cubicBezTo>
                    <a:pt x="4626610" y="423406"/>
                    <a:pt x="4640580" y="454141"/>
                    <a:pt x="4654550" y="485731"/>
                  </a:cubicBezTo>
                  <a:cubicBezTo>
                    <a:pt x="4676140" y="535249"/>
                    <a:pt x="4701540" y="584768"/>
                    <a:pt x="4715510" y="635994"/>
                  </a:cubicBezTo>
                  <a:cubicBezTo>
                    <a:pt x="4735830" y="707711"/>
                    <a:pt x="4745990" y="781135"/>
                    <a:pt x="4761230" y="853705"/>
                  </a:cubicBezTo>
                  <a:cubicBezTo>
                    <a:pt x="4766310" y="877611"/>
                    <a:pt x="4772660" y="901517"/>
                    <a:pt x="4775200" y="925422"/>
                  </a:cubicBezTo>
                  <a:cubicBezTo>
                    <a:pt x="4782820" y="993724"/>
                    <a:pt x="4787900" y="1061171"/>
                    <a:pt x="4794250" y="1129473"/>
                  </a:cubicBezTo>
                  <a:cubicBezTo>
                    <a:pt x="4803140" y="1213996"/>
                    <a:pt x="4815840" y="1297665"/>
                    <a:pt x="4822190" y="1382189"/>
                  </a:cubicBezTo>
                  <a:cubicBezTo>
                    <a:pt x="4828540" y="1463297"/>
                    <a:pt x="4833620" y="1545259"/>
                    <a:pt x="4831080" y="1627220"/>
                  </a:cubicBezTo>
                  <a:cubicBezTo>
                    <a:pt x="4827270" y="1763823"/>
                    <a:pt x="4817110" y="1899573"/>
                    <a:pt x="4806950" y="2036176"/>
                  </a:cubicBezTo>
                  <a:cubicBezTo>
                    <a:pt x="4800600" y="2120699"/>
                    <a:pt x="4791710" y="2204368"/>
                    <a:pt x="4779010" y="2288038"/>
                  </a:cubicBezTo>
                  <a:cubicBezTo>
                    <a:pt x="4766310" y="2371707"/>
                    <a:pt x="4747260" y="2454523"/>
                    <a:pt x="4733290" y="2538192"/>
                  </a:cubicBezTo>
                  <a:cubicBezTo>
                    <a:pt x="4723130" y="2596249"/>
                    <a:pt x="4720590" y="2654305"/>
                    <a:pt x="4709160" y="2711507"/>
                  </a:cubicBezTo>
                  <a:cubicBezTo>
                    <a:pt x="4699000" y="2763587"/>
                    <a:pt x="4660900" y="2809691"/>
                    <a:pt x="4610100" y="2848111"/>
                  </a:cubicBezTo>
                  <a:cubicBezTo>
                    <a:pt x="4568190" y="2880554"/>
                    <a:pt x="4535170" y="2917266"/>
                    <a:pt x="4491990" y="2948855"/>
                  </a:cubicBezTo>
                  <a:cubicBezTo>
                    <a:pt x="4453890" y="2977030"/>
                    <a:pt x="4411980" y="3005204"/>
                    <a:pt x="4345940" y="3006058"/>
                  </a:cubicBezTo>
                  <a:cubicBezTo>
                    <a:pt x="4330700" y="3006058"/>
                    <a:pt x="4316730" y="3016303"/>
                    <a:pt x="4301490" y="3021426"/>
                  </a:cubicBezTo>
                  <a:cubicBezTo>
                    <a:pt x="4236720" y="3040209"/>
                    <a:pt x="4169410" y="3056430"/>
                    <a:pt x="4105910" y="3076921"/>
                  </a:cubicBezTo>
                  <a:cubicBezTo>
                    <a:pt x="3989070" y="3114487"/>
                    <a:pt x="3863340" y="3120463"/>
                    <a:pt x="3737610" y="3123878"/>
                  </a:cubicBezTo>
                  <a:cubicBezTo>
                    <a:pt x="3689350" y="3125586"/>
                    <a:pt x="3639820" y="3123024"/>
                    <a:pt x="3591560" y="3125586"/>
                  </a:cubicBezTo>
                  <a:cubicBezTo>
                    <a:pt x="3567430" y="3126439"/>
                    <a:pt x="3544570" y="3134123"/>
                    <a:pt x="3521710" y="3137538"/>
                  </a:cubicBezTo>
                  <a:cubicBezTo>
                    <a:pt x="3511550" y="3139246"/>
                    <a:pt x="3501390" y="3138392"/>
                    <a:pt x="3489960" y="3139246"/>
                  </a:cubicBezTo>
                  <a:cubicBezTo>
                    <a:pt x="3474720" y="3140100"/>
                    <a:pt x="3459480" y="3142661"/>
                    <a:pt x="3444240" y="3141807"/>
                  </a:cubicBezTo>
                  <a:cubicBezTo>
                    <a:pt x="3429000" y="3140100"/>
                    <a:pt x="3418840" y="3136685"/>
                    <a:pt x="3416300" y="3136685"/>
                  </a:cubicBezTo>
                  <a:close/>
                </a:path>
              </a:pathLst>
            </a:custGeom>
            <a:blipFill>
              <a:blip r:embed="rId7"/>
              <a:stretch>
                <a:fillRect l="-703" t="-5287" r="22" b="-5195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5660524" y="4532934"/>
            <a:ext cx="6966952" cy="1097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7"/>
              </a:lnSpc>
            </a:pPr>
            <a:r>
              <a:rPr lang="en-US" sz="6419">
                <a:solidFill>
                  <a:srgbClr val="000000"/>
                </a:solidFill>
                <a:latin typeface="Canva Sans Bold"/>
              </a:rPr>
              <a:t>Использование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3663793"/>
            <a:ext cx="18288000" cy="310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0"/>
              </a:lnSpc>
            </a:pPr>
            <a:r>
              <a:rPr lang="en-US" sz="8010">
                <a:solidFill>
                  <a:srgbClr val="231F20"/>
                </a:solidFill>
                <a:latin typeface="Eczar Semi-Bold"/>
              </a:rPr>
              <a:t>Применение эффекта Джозефсона в информационных технологиях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D1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679756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FFBE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8408906"/>
            <a:ext cx="17118189" cy="1284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sz="3303">
                <a:solidFill>
                  <a:srgbClr val="231F20"/>
                </a:solidFill>
                <a:latin typeface="Noticia Text"/>
              </a:rPr>
              <a:t> Они позволяют управлять током в суперпроводнике, что делает их идеальными для использования в высокочастотных устройствах и в качестве элементов в сверхпроводящих схемах.</a:t>
            </a:r>
          </a:p>
        </p:txBody>
      </p:sp>
      <p:sp>
        <p:nvSpPr>
          <p:cNvPr id="6" name="Freeform 6"/>
          <p:cNvSpPr/>
          <p:nvPr/>
        </p:nvSpPr>
        <p:spPr>
          <a:xfrm>
            <a:off x="4984166" y="3007792"/>
            <a:ext cx="8319668" cy="4942551"/>
          </a:xfrm>
          <a:custGeom>
            <a:avLst/>
            <a:gdLst/>
            <a:ahLst/>
            <a:cxnLst/>
            <a:rect l="l" t="t" r="r" b="b"/>
            <a:pathLst>
              <a:path w="8319668" h="4942551">
                <a:moveTo>
                  <a:pt x="0" y="0"/>
                </a:moveTo>
                <a:lnTo>
                  <a:pt x="8319668" y="0"/>
                </a:lnTo>
                <a:lnTo>
                  <a:pt x="8319668" y="4942551"/>
                </a:lnTo>
                <a:lnTo>
                  <a:pt x="0" y="494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32202" y="784206"/>
            <a:ext cx="11623596" cy="2031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sz="5885">
                <a:solidFill>
                  <a:srgbClr val="231F20"/>
                </a:solidFill>
                <a:latin typeface="Eczar Semi-Bold"/>
              </a:rPr>
              <a:t>Сверхпроводящие элементы </a:t>
            </a:r>
          </a:p>
          <a:p>
            <a:pPr algn="ctr">
              <a:lnSpc>
                <a:spcPts val="8240"/>
              </a:lnSpc>
            </a:pPr>
            <a:r>
              <a:rPr lang="en-US" sz="5885">
                <a:solidFill>
                  <a:srgbClr val="231F20"/>
                </a:solidFill>
                <a:latin typeface="Eczar Semi-Bold"/>
              </a:rPr>
              <a:t>в электронике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FFBE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7805536"/>
            <a:ext cx="17118189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31F20"/>
                </a:solidFill>
                <a:latin typeface="Noticia Text"/>
              </a:rPr>
              <a:t> используют эффект Джозефсона для хранения информации в квантовых состояниях. Они обещают значительно увеличить плотность хранения данных и скорость передачи информации по сравнению с традиционными технологиями.</a:t>
            </a:r>
          </a:p>
        </p:txBody>
      </p:sp>
      <p:sp>
        <p:nvSpPr>
          <p:cNvPr id="6" name="Freeform 6"/>
          <p:cNvSpPr/>
          <p:nvPr/>
        </p:nvSpPr>
        <p:spPr>
          <a:xfrm>
            <a:off x="2878692" y="2637377"/>
            <a:ext cx="12530617" cy="5012247"/>
          </a:xfrm>
          <a:custGeom>
            <a:avLst/>
            <a:gdLst/>
            <a:ahLst/>
            <a:cxnLst/>
            <a:rect l="l" t="t" r="r" b="b"/>
            <a:pathLst>
              <a:path w="12530617" h="5012247">
                <a:moveTo>
                  <a:pt x="0" y="0"/>
                </a:moveTo>
                <a:lnTo>
                  <a:pt x="12530616" y="0"/>
                </a:lnTo>
                <a:lnTo>
                  <a:pt x="12530616" y="5012246"/>
                </a:lnTo>
                <a:lnTo>
                  <a:pt x="0" y="50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54163" y="784206"/>
            <a:ext cx="13579673" cy="99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sz="5885">
                <a:solidFill>
                  <a:srgbClr val="231F20"/>
                </a:solidFill>
                <a:latin typeface="Eczar Semi-Bold"/>
              </a:rPr>
              <a:t>Сверхпроводящие ячейки памяти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092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FFBE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4906" y="7373417"/>
            <a:ext cx="17118189" cy="2223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231F20"/>
                </a:solidFill>
                <a:latin typeface="Noticia Text"/>
              </a:rPr>
              <a:t>  обладают высокой чувствительностью и точностью, что делает их идеальными для использования в метрологии и магнитометрии. Они могут быть использованы для измерения малых магнитных полей и для создания высокоточных магнитометров.</a:t>
            </a:r>
          </a:p>
        </p:txBody>
      </p:sp>
      <p:sp>
        <p:nvSpPr>
          <p:cNvPr id="6" name="Freeform 6"/>
          <p:cNvSpPr/>
          <p:nvPr/>
        </p:nvSpPr>
        <p:spPr>
          <a:xfrm>
            <a:off x="5107309" y="2182121"/>
            <a:ext cx="8073383" cy="4844030"/>
          </a:xfrm>
          <a:custGeom>
            <a:avLst/>
            <a:gdLst/>
            <a:ahLst/>
            <a:cxnLst/>
            <a:rect l="l" t="t" r="r" b="b"/>
            <a:pathLst>
              <a:path w="8073383" h="4844030">
                <a:moveTo>
                  <a:pt x="0" y="0"/>
                </a:moveTo>
                <a:lnTo>
                  <a:pt x="8073382" y="0"/>
                </a:lnTo>
                <a:lnTo>
                  <a:pt x="8073382" y="4844030"/>
                </a:lnTo>
                <a:lnTo>
                  <a:pt x="0" y="4844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92841" y="784206"/>
            <a:ext cx="3302318" cy="99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40"/>
              </a:lnSpc>
            </a:pPr>
            <a:r>
              <a:rPr lang="en-US" sz="5885">
                <a:solidFill>
                  <a:srgbClr val="231F20"/>
                </a:solidFill>
                <a:latin typeface="Eczar Semi-Bold"/>
              </a:rPr>
              <a:t>СКВИДы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E6EEF1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7626217"/>
            <a:ext cx="17118189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231F20"/>
                </a:solidFill>
                <a:latin typeface="Canva Sans"/>
              </a:rPr>
              <a:t> используют эффект Джозефсона для управления квантовыми битами, являются ключевыми элементами в разработке сверхпроводящих компьютеров. Они обеспечивают основу для создания квантовых логических элементов, которые могут обрабатывать информацию на квантовом уровне, что открывает новые возможности для обработки данных и решения сложных задач.</a:t>
            </a:r>
          </a:p>
        </p:txBody>
      </p:sp>
      <p:sp>
        <p:nvSpPr>
          <p:cNvPr id="6" name="Freeform 6"/>
          <p:cNvSpPr/>
          <p:nvPr/>
        </p:nvSpPr>
        <p:spPr>
          <a:xfrm>
            <a:off x="5680545" y="2028363"/>
            <a:ext cx="6926910" cy="5079734"/>
          </a:xfrm>
          <a:custGeom>
            <a:avLst/>
            <a:gdLst/>
            <a:ahLst/>
            <a:cxnLst/>
            <a:rect l="l" t="t" r="r" b="b"/>
            <a:pathLst>
              <a:path w="6926910" h="5079734">
                <a:moveTo>
                  <a:pt x="0" y="0"/>
                </a:moveTo>
                <a:lnTo>
                  <a:pt x="6926910" y="0"/>
                </a:lnTo>
                <a:lnTo>
                  <a:pt x="6926910" y="5079734"/>
                </a:lnTo>
                <a:lnTo>
                  <a:pt x="0" y="5079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1498" y="418568"/>
            <a:ext cx="17118189" cy="1177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>
                <a:solidFill>
                  <a:srgbClr val="231F20"/>
                </a:solidFill>
                <a:latin typeface="Canva Sans Bold"/>
              </a:rPr>
              <a:t>Джозефсонские логические схемы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3663793"/>
            <a:ext cx="18288000" cy="310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0"/>
              </a:lnSpc>
            </a:pPr>
            <a:r>
              <a:rPr lang="en-US" sz="8010">
                <a:solidFill>
                  <a:srgbClr val="231F20"/>
                </a:solidFill>
                <a:latin typeface="Eczar Semi-Bold"/>
              </a:rPr>
              <a:t>Применение эффекта Джозефсона в квантовых компьютерах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8476095"/>
            <a:ext cx="1711818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31F20"/>
                </a:solidFill>
                <a:latin typeface="Noticia Text"/>
              </a:rPr>
              <a:t>- квантовые  аналоги битов в классической информатике. Кубиты на основе джозефсоновских переходов обладают свойствами квантовой суперпозиции и квантовой запутанности, что позволяет выполнять параллельные вычисления и обеспечивает высокую плотность информации.</a:t>
            </a:r>
          </a:p>
        </p:txBody>
      </p:sp>
      <p:sp>
        <p:nvSpPr>
          <p:cNvPr id="6" name="Freeform 6"/>
          <p:cNvSpPr/>
          <p:nvPr/>
        </p:nvSpPr>
        <p:spPr>
          <a:xfrm>
            <a:off x="3798649" y="2034288"/>
            <a:ext cx="10690701" cy="6218424"/>
          </a:xfrm>
          <a:custGeom>
            <a:avLst/>
            <a:gdLst/>
            <a:ahLst/>
            <a:cxnLst/>
            <a:rect l="l" t="t" r="r" b="b"/>
            <a:pathLst>
              <a:path w="10690701" h="6218424">
                <a:moveTo>
                  <a:pt x="0" y="0"/>
                </a:moveTo>
                <a:lnTo>
                  <a:pt x="10690702" y="0"/>
                </a:lnTo>
                <a:lnTo>
                  <a:pt x="10690702" y="6218424"/>
                </a:lnTo>
                <a:lnTo>
                  <a:pt x="0" y="6218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511973" y="1277347"/>
            <a:ext cx="5264053" cy="600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89"/>
              </a:lnSpc>
            </a:pPr>
            <a:r>
              <a:rPr lang="en-US" sz="7178">
                <a:solidFill>
                  <a:srgbClr val="231F20"/>
                </a:solidFill>
                <a:latin typeface="Noticia Text Bold"/>
              </a:rPr>
              <a:t>Кубиты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A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FFBE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1498" y="2175952"/>
            <a:ext cx="6786414" cy="418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31F20"/>
                </a:solidFill>
                <a:latin typeface="Noticia Text"/>
              </a:rPr>
              <a:t>высокая скорость операций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231F20"/>
              </a:solidFill>
              <a:latin typeface="Noticia Text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31F20"/>
                </a:solidFill>
                <a:latin typeface="Noticia Text"/>
              </a:rPr>
              <a:t>низкий уровень ошибок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231F20"/>
              </a:solidFill>
              <a:latin typeface="Noticia Text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31F20"/>
                </a:solidFill>
                <a:latin typeface="Noticia Text"/>
              </a:rPr>
              <a:t>возможность масштабирования</a:t>
            </a:r>
          </a:p>
          <a:p>
            <a:pPr algn="just">
              <a:lnSpc>
                <a:spcPts val="4759"/>
              </a:lnSpc>
            </a:pPr>
            <a:endParaRPr lang="en-US" sz="3399">
              <a:solidFill>
                <a:srgbClr val="231F20"/>
              </a:solidFill>
              <a:latin typeface="Noticia Tex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930410" y="3615708"/>
            <a:ext cx="10799277" cy="6158963"/>
          </a:xfrm>
          <a:custGeom>
            <a:avLst/>
            <a:gdLst/>
            <a:ahLst/>
            <a:cxnLst/>
            <a:rect l="l" t="t" r="r" b="b"/>
            <a:pathLst>
              <a:path w="10799277" h="6158963">
                <a:moveTo>
                  <a:pt x="0" y="0"/>
                </a:moveTo>
                <a:lnTo>
                  <a:pt x="10799277" y="0"/>
                </a:lnTo>
                <a:lnTo>
                  <a:pt x="10799277" y="6158963"/>
                </a:lnTo>
                <a:lnTo>
                  <a:pt x="0" y="6158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1498" y="1269726"/>
            <a:ext cx="17118189" cy="53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9"/>
              </a:lnSpc>
            </a:pPr>
            <a:r>
              <a:rPr lang="en-US" sz="6278">
                <a:solidFill>
                  <a:srgbClr val="231F20"/>
                </a:solidFill>
                <a:latin typeface="Eczar Semi-Bold"/>
              </a:rPr>
              <a:t>Преимущества Джозефсонских кубитов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AD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FFBEF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69421"/>
            <a:ext cx="6912446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высокая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чувствительность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к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окружающим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шумам</a:t>
            </a:r>
            <a:endParaRPr lang="en-US" sz="3399" dirty="0">
              <a:solidFill>
                <a:srgbClr val="231F20"/>
              </a:solidFill>
              <a:latin typeface="Noticia Text"/>
            </a:endParaRPr>
          </a:p>
          <a:p>
            <a:pPr>
              <a:lnSpc>
                <a:spcPts val="4759"/>
              </a:lnSpc>
            </a:pPr>
            <a:endParaRPr lang="en-US" sz="3399" dirty="0">
              <a:solidFill>
                <a:srgbClr val="231F20"/>
              </a:solidFill>
              <a:latin typeface="Noticia Text"/>
            </a:endParaRP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требование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к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очень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низким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температурам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(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близким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к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абсолютному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нулю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)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для</a:t>
            </a:r>
            <a:r>
              <a:rPr lang="en-US" sz="33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3399" dirty="0" err="1">
                <a:solidFill>
                  <a:srgbClr val="231F20"/>
                </a:solidFill>
                <a:latin typeface="Noticia Text"/>
              </a:rPr>
              <a:t>работы</a:t>
            </a:r>
            <a:endParaRPr lang="en-US" sz="3399" dirty="0">
              <a:solidFill>
                <a:srgbClr val="231F20"/>
              </a:solidFill>
              <a:latin typeface="Noticia Text"/>
            </a:endParaRPr>
          </a:p>
          <a:p>
            <a:pPr>
              <a:lnSpc>
                <a:spcPts val="4759"/>
              </a:lnSpc>
            </a:pPr>
            <a:endParaRPr lang="en-US" sz="3399" dirty="0">
              <a:solidFill>
                <a:srgbClr val="231F20"/>
              </a:solidFill>
              <a:latin typeface="Noticia Tex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9170592" y="3297314"/>
            <a:ext cx="8585687" cy="5960986"/>
          </a:xfrm>
          <a:custGeom>
            <a:avLst/>
            <a:gdLst/>
            <a:ahLst/>
            <a:cxnLst/>
            <a:rect l="l" t="t" r="r" b="b"/>
            <a:pathLst>
              <a:path w="8585687" h="5960986">
                <a:moveTo>
                  <a:pt x="0" y="0"/>
                </a:moveTo>
                <a:lnTo>
                  <a:pt x="8585687" y="0"/>
                </a:lnTo>
                <a:lnTo>
                  <a:pt x="8585687" y="5960986"/>
                </a:lnTo>
                <a:lnTo>
                  <a:pt x="0" y="5960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1498" y="1269726"/>
            <a:ext cx="17118189" cy="539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39"/>
              </a:lnSpc>
            </a:pPr>
            <a:r>
              <a:rPr lang="en-US" sz="6278">
                <a:solidFill>
                  <a:srgbClr val="231F20"/>
                </a:solidFill>
                <a:latin typeface="Eczar Semi-Bold"/>
              </a:rPr>
              <a:t>Недостатки Джозефсонских кубитов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E6EEF1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421" y="4551769"/>
            <a:ext cx="18288000" cy="120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10"/>
              </a:lnSpc>
            </a:pPr>
            <a:r>
              <a:rPr lang="en-US" sz="9010">
                <a:solidFill>
                  <a:srgbClr val="231F20"/>
                </a:solidFill>
                <a:latin typeface="Eczar Semi-Bold"/>
              </a:rPr>
              <a:t>В настоящее время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AD1B4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4906" y="7288067"/>
            <a:ext cx="17118189" cy="14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Исследуются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и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разрабатываются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различные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архитектуры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квантовых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компьютеров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,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использующих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джозефсоновские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2877" dirty="0" err="1">
                <a:solidFill>
                  <a:srgbClr val="000000"/>
                </a:solidFill>
                <a:latin typeface="Canva Sans Bold"/>
              </a:rPr>
              <a:t>кубиты</a:t>
            </a:r>
            <a:r>
              <a:rPr lang="en-US" sz="2877" dirty="0">
                <a:solidFill>
                  <a:srgbClr val="000000"/>
                </a:solidFill>
                <a:latin typeface="Canva Sans Bold"/>
              </a:rPr>
              <a:t>.</a:t>
            </a:r>
          </a:p>
          <a:p>
            <a:pPr algn="ctr">
              <a:lnSpc>
                <a:spcPts val="4029"/>
              </a:lnSpc>
            </a:pPr>
            <a:r>
              <a:rPr lang="en-US" sz="2877" dirty="0">
                <a:solidFill>
                  <a:srgbClr val="000000"/>
                </a:solidFill>
                <a:latin typeface="Canva Sans"/>
              </a:rPr>
              <a:t> </a:t>
            </a:r>
          </a:p>
        </p:txBody>
      </p:sp>
      <p:sp>
        <p:nvSpPr>
          <p:cNvPr id="6" name="Freeform 6"/>
          <p:cNvSpPr/>
          <p:nvPr/>
        </p:nvSpPr>
        <p:spPr>
          <a:xfrm>
            <a:off x="3960642" y="1156538"/>
            <a:ext cx="10366717" cy="5822639"/>
          </a:xfrm>
          <a:custGeom>
            <a:avLst/>
            <a:gdLst/>
            <a:ahLst/>
            <a:cxnLst/>
            <a:rect l="l" t="t" r="r" b="b"/>
            <a:pathLst>
              <a:path w="10366717" h="5822639">
                <a:moveTo>
                  <a:pt x="0" y="0"/>
                </a:moveTo>
                <a:lnTo>
                  <a:pt x="10366716" y="0"/>
                </a:lnTo>
                <a:lnTo>
                  <a:pt x="10366716" y="5822639"/>
                </a:lnTo>
                <a:lnTo>
                  <a:pt x="0" y="58226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E6EEF1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96967" y="2949051"/>
            <a:ext cx="6662333" cy="16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увеличение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числа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кубитов</a:t>
            </a:r>
            <a:endParaRPr lang="en-US" sz="1899" dirty="0">
              <a:solidFill>
                <a:srgbClr val="000000"/>
              </a:solidFill>
              <a:latin typeface="Noticia Text"/>
            </a:endParaRPr>
          </a:p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реализацию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коррекции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ошибок</a:t>
            </a:r>
            <a:endParaRPr lang="en-US" sz="1899" dirty="0">
              <a:solidFill>
                <a:srgbClr val="000000"/>
              </a:solidFill>
              <a:latin typeface="Noticia Text"/>
            </a:endParaRPr>
          </a:p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разработку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новых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алгоритмов</a:t>
            </a:r>
            <a:endParaRPr lang="en-US" sz="1899" dirty="0">
              <a:solidFill>
                <a:srgbClr val="000000"/>
              </a:solidFill>
              <a:latin typeface="Noticia Text"/>
            </a:endParaRPr>
          </a:p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применение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квантовых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компьютеров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для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решения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сложных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вычислительных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задач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и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оптимизации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89998" y="1362257"/>
            <a:ext cx="7961140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Noticia Text Bold"/>
              </a:rPr>
              <a:t>Перспективы развития включают: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758092"/>
            <a:ext cx="7944326" cy="98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создание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квантовых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устройств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с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увеличенным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числом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кубитов</a:t>
            </a:r>
            <a:endParaRPr lang="en-US" sz="1899" dirty="0">
              <a:solidFill>
                <a:srgbClr val="000000"/>
              </a:solidFill>
              <a:latin typeface="Noticia Text"/>
            </a:endParaRPr>
          </a:p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улучшение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точности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и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стабильности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квантовых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операций</a:t>
            </a:r>
            <a:endParaRPr lang="en-US" sz="1899" dirty="0">
              <a:solidFill>
                <a:srgbClr val="000000"/>
              </a:solidFill>
              <a:latin typeface="Noticia Text"/>
            </a:endParaRPr>
          </a:p>
          <a:p>
            <a:pPr marL="410209" lvl="1" indent="-205105">
              <a:lnSpc>
                <a:spcPts val="2659"/>
              </a:lnSpc>
              <a:buFont typeface="Arial"/>
              <a:buChar char="•"/>
            </a:pP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разработку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методов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для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управления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и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исправления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1899" dirty="0" err="1">
                <a:solidFill>
                  <a:srgbClr val="000000"/>
                </a:solidFill>
                <a:latin typeface="Noticia Text"/>
              </a:rPr>
              <a:t>ошибок</a:t>
            </a:r>
            <a:r>
              <a:rPr lang="en-US" sz="1899" dirty="0">
                <a:solidFill>
                  <a:srgbClr val="000000"/>
                </a:solidFill>
                <a:latin typeface="Noticia Text"/>
              </a:rPr>
              <a:t>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5340514"/>
            <a:ext cx="8361298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Eczar Bold"/>
              </a:rPr>
              <a:t>Современные достижения включают:</a:t>
            </a:r>
          </a:p>
        </p:txBody>
      </p:sp>
      <p:sp>
        <p:nvSpPr>
          <p:cNvPr id="9" name="Freeform 9"/>
          <p:cNvSpPr/>
          <p:nvPr/>
        </p:nvSpPr>
        <p:spPr>
          <a:xfrm>
            <a:off x="10659669" y="4858546"/>
            <a:ext cx="6599631" cy="4399754"/>
          </a:xfrm>
          <a:custGeom>
            <a:avLst/>
            <a:gdLst/>
            <a:ahLst/>
            <a:cxnLst/>
            <a:rect l="l" t="t" r="r" b="b"/>
            <a:pathLst>
              <a:path w="6599631" h="4399754">
                <a:moveTo>
                  <a:pt x="0" y="0"/>
                </a:moveTo>
                <a:lnTo>
                  <a:pt x="6599631" y="0"/>
                </a:lnTo>
                <a:lnTo>
                  <a:pt x="6599631" y="4399754"/>
                </a:lnTo>
                <a:lnTo>
                  <a:pt x="0" y="4399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1028700"/>
            <a:ext cx="6267042" cy="3916901"/>
          </a:xfrm>
          <a:custGeom>
            <a:avLst/>
            <a:gdLst/>
            <a:ahLst/>
            <a:cxnLst/>
            <a:rect l="l" t="t" r="r" b="b"/>
            <a:pathLst>
              <a:path w="6267042" h="3916901">
                <a:moveTo>
                  <a:pt x="0" y="0"/>
                </a:moveTo>
                <a:lnTo>
                  <a:pt x="6267042" y="0"/>
                </a:lnTo>
                <a:lnTo>
                  <a:pt x="6267042" y="3916901"/>
                </a:lnTo>
                <a:lnTo>
                  <a:pt x="0" y="3916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4906" y="8255634"/>
            <a:ext cx="17118189" cy="1002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Однако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для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реализации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этих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перспектив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необходимо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продолжать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исследования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и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разработки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в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области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сверхпроводимости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и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квантовых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 Bold"/>
              </a:rPr>
              <a:t>технологий</a:t>
            </a:r>
            <a:r>
              <a:rPr lang="en-US" sz="2899" dirty="0">
                <a:solidFill>
                  <a:srgbClr val="000000"/>
                </a:solidFill>
                <a:latin typeface="Noticia Text Bo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4906" y="2255988"/>
            <a:ext cx="17118189" cy="151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обещает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быть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весьма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перспективным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, с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потенциалом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для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создания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более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мощных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и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эффективных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вычислительных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систем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, а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также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для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решения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проблем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,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которые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не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могут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быть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решены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с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помощью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классических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899" dirty="0" err="1">
                <a:solidFill>
                  <a:srgbClr val="000000"/>
                </a:solidFill>
                <a:latin typeface="Noticia Text"/>
              </a:rPr>
              <a:t>методов</a:t>
            </a:r>
            <a:r>
              <a:rPr lang="en-US" sz="2899" dirty="0">
                <a:solidFill>
                  <a:srgbClr val="000000"/>
                </a:solidFill>
                <a:latin typeface="Noticia Text"/>
              </a:rPr>
              <a:t>. </a:t>
            </a:r>
          </a:p>
        </p:txBody>
      </p:sp>
      <p:sp>
        <p:nvSpPr>
          <p:cNvPr id="7" name="Freeform 7"/>
          <p:cNvSpPr/>
          <p:nvPr/>
        </p:nvSpPr>
        <p:spPr>
          <a:xfrm>
            <a:off x="2781852" y="4134953"/>
            <a:ext cx="12724296" cy="3918714"/>
          </a:xfrm>
          <a:custGeom>
            <a:avLst/>
            <a:gdLst/>
            <a:ahLst/>
            <a:cxnLst/>
            <a:rect l="l" t="t" r="r" b="b"/>
            <a:pathLst>
              <a:path w="12724296" h="3918714">
                <a:moveTo>
                  <a:pt x="0" y="0"/>
                </a:moveTo>
                <a:lnTo>
                  <a:pt x="12724296" y="0"/>
                </a:lnTo>
                <a:lnTo>
                  <a:pt x="12724296" y="3918715"/>
                </a:lnTo>
                <a:lnTo>
                  <a:pt x="0" y="3918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1498" y="600800"/>
            <a:ext cx="17118189" cy="1342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sz="7900" dirty="0" err="1">
                <a:solidFill>
                  <a:srgbClr val="000000"/>
                </a:solidFill>
                <a:latin typeface="Canva Sans Bold"/>
              </a:rPr>
              <a:t>Будущее</a:t>
            </a:r>
            <a:r>
              <a:rPr lang="en-US" sz="7900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7900" dirty="0" err="1">
                <a:solidFill>
                  <a:srgbClr val="000000"/>
                </a:solidFill>
                <a:latin typeface="Canva Sans Bold"/>
              </a:rPr>
              <a:t>квантовых</a:t>
            </a:r>
            <a:r>
              <a:rPr lang="en-US" sz="7900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7900" dirty="0" err="1">
                <a:solidFill>
                  <a:srgbClr val="000000"/>
                </a:solidFill>
                <a:latin typeface="Canva Sans Bold"/>
              </a:rPr>
              <a:t>технологий</a:t>
            </a:r>
            <a:endParaRPr lang="en-US" sz="7900" dirty="0">
              <a:solidFill>
                <a:srgbClr val="000000"/>
              </a:solidFill>
              <a:latin typeface="Canva Sans 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F8E2D3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4906" y="8629614"/>
            <a:ext cx="17091597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Это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приводит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к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развитию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новых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устройств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и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систем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,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которые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могут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значительно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улучшить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эффективность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и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возможности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обработки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 Bold"/>
              </a:rPr>
              <a:t>информации</a:t>
            </a:r>
            <a:r>
              <a:rPr lang="en-US" sz="2699" dirty="0">
                <a:solidFill>
                  <a:srgbClr val="000000"/>
                </a:solidFill>
                <a:latin typeface="Noticia Text Bold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8090" y="3279249"/>
            <a:ext cx="17091597" cy="93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активно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используют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эффект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Джозефсона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для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создания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и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манипулирования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квантовыми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битами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, а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также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в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квантовых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генераторах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для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создания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квантовых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699" dirty="0" err="1">
                <a:solidFill>
                  <a:srgbClr val="000000"/>
                </a:solidFill>
                <a:latin typeface="Noticia Text"/>
              </a:rPr>
              <a:t>состояний</a:t>
            </a:r>
            <a:r>
              <a:rPr lang="en-US" sz="2699" dirty="0">
                <a:solidFill>
                  <a:srgbClr val="000000"/>
                </a:solidFill>
                <a:latin typeface="Noticia Text"/>
              </a:rPr>
              <a:t>. </a:t>
            </a:r>
          </a:p>
        </p:txBody>
      </p:sp>
      <p:sp>
        <p:nvSpPr>
          <p:cNvPr id="7" name="Freeform 7"/>
          <p:cNvSpPr/>
          <p:nvPr/>
        </p:nvSpPr>
        <p:spPr>
          <a:xfrm>
            <a:off x="3623606" y="4496544"/>
            <a:ext cx="11040788" cy="3894945"/>
          </a:xfrm>
          <a:custGeom>
            <a:avLst/>
            <a:gdLst/>
            <a:ahLst/>
            <a:cxnLst/>
            <a:rect l="l" t="t" r="r" b="b"/>
            <a:pathLst>
              <a:path w="11040788" h="3894945">
                <a:moveTo>
                  <a:pt x="0" y="0"/>
                </a:moveTo>
                <a:lnTo>
                  <a:pt x="11040788" y="0"/>
                </a:lnTo>
                <a:lnTo>
                  <a:pt x="11040788" y="3894945"/>
                </a:lnTo>
                <a:lnTo>
                  <a:pt x="0" y="3894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4906" y="409043"/>
            <a:ext cx="17118189" cy="263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dirty="0" err="1">
                <a:solidFill>
                  <a:srgbClr val="000000"/>
                </a:solidFill>
                <a:latin typeface="Canva Sans Bold"/>
              </a:rPr>
              <a:t>Современные</a:t>
            </a:r>
            <a:r>
              <a:rPr lang="en-US" sz="7600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7600" dirty="0" err="1">
                <a:solidFill>
                  <a:srgbClr val="000000"/>
                </a:solidFill>
                <a:latin typeface="Canva Sans Bold"/>
              </a:rPr>
              <a:t>информационные</a:t>
            </a:r>
            <a:r>
              <a:rPr lang="en-US" sz="7600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7600" dirty="0" err="1">
                <a:solidFill>
                  <a:srgbClr val="000000"/>
                </a:solidFill>
                <a:latin typeface="Canva Sans Bold"/>
              </a:rPr>
              <a:t>технологии</a:t>
            </a:r>
            <a:endParaRPr lang="en-US" sz="7600" dirty="0">
              <a:solidFill>
                <a:srgbClr val="000000"/>
              </a:solidFill>
              <a:latin typeface="Canva Sans 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CCADC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8421" y="3536447"/>
            <a:ext cx="18288000" cy="343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00"/>
              </a:lnSpc>
            </a:pP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Уравнение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для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тока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I в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случае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сильно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шунтированной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модели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  <a:r>
              <a:rPr lang="en-US" sz="8900" dirty="0" err="1">
                <a:solidFill>
                  <a:srgbClr val="231F20"/>
                </a:solidFill>
                <a:latin typeface="Eczar Semi-Bold"/>
              </a:rPr>
              <a:t>Джозефсона</a:t>
            </a:r>
            <a:r>
              <a:rPr lang="en-US" sz="8900" dirty="0">
                <a:solidFill>
                  <a:srgbClr val="231F20"/>
                </a:solidFill>
                <a:latin typeface="Eczar Semi-Bold"/>
              </a:rPr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467612"/>
            <a:ext cx="576143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231F20"/>
                </a:solidFill>
                <a:latin typeface="Canva Sans"/>
              </a:rPr>
              <a:t>где</a:t>
            </a:r>
            <a:r>
              <a:rPr lang="en-US" sz="3000" dirty="0">
                <a:solidFill>
                  <a:srgbClr val="231F20"/>
                </a:solidFill>
                <a:latin typeface="Canva Sans"/>
              </a:rPr>
              <a:t> A, ω ≥ 0, B ≥ 0 - </a:t>
            </a:r>
            <a:r>
              <a:rPr lang="en-US" sz="3000" dirty="0" err="1">
                <a:solidFill>
                  <a:srgbClr val="231F20"/>
                </a:solidFill>
                <a:latin typeface="Canva Sans"/>
              </a:rPr>
              <a:t>параметры</a:t>
            </a:r>
            <a:r>
              <a:rPr lang="en-US" sz="3000" dirty="0">
                <a:solidFill>
                  <a:srgbClr val="231F20"/>
                </a:solidFill>
                <a:latin typeface="Canva Sans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>
            <a:off x="16539201" y="4614555"/>
            <a:ext cx="1190486" cy="1097479"/>
          </a:xfrm>
          <a:custGeom>
            <a:avLst/>
            <a:gdLst/>
            <a:ahLst/>
            <a:cxnLst/>
            <a:rect l="l" t="t" r="r" b="b"/>
            <a:pathLst>
              <a:path w="1190486" h="1097479">
                <a:moveTo>
                  <a:pt x="0" y="0"/>
                </a:moveTo>
                <a:lnTo>
                  <a:pt x="1190486" y="0"/>
                </a:lnTo>
                <a:lnTo>
                  <a:pt x="1190486" y="1097479"/>
                </a:lnTo>
                <a:lnTo>
                  <a:pt x="0" y="1097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72021" y="4332956"/>
            <a:ext cx="13143957" cy="1621088"/>
          </a:xfrm>
          <a:custGeom>
            <a:avLst/>
            <a:gdLst/>
            <a:ahLst/>
            <a:cxnLst/>
            <a:rect l="l" t="t" r="r" b="b"/>
            <a:pathLst>
              <a:path w="13143957" h="1621088">
                <a:moveTo>
                  <a:pt x="0" y="0"/>
                </a:moveTo>
                <a:lnTo>
                  <a:pt x="13143958" y="0"/>
                </a:lnTo>
                <a:lnTo>
                  <a:pt x="13143958" y="1621088"/>
                </a:lnTo>
                <a:lnTo>
                  <a:pt x="0" y="1621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11498" y="456668"/>
            <a:ext cx="17118189" cy="365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231F20"/>
                </a:solidFill>
                <a:latin typeface="Noticia Text"/>
              </a:rPr>
              <a:t> С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уравнением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для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тока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I в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случае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сильно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шунтированной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модели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Джозефсона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ассоциируется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семейство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уравнений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на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 </a:t>
            </a:r>
            <a:r>
              <a:rPr lang="en-US" sz="5199" dirty="0" err="1">
                <a:solidFill>
                  <a:srgbClr val="231F20"/>
                </a:solidFill>
                <a:latin typeface="Noticia Text"/>
              </a:rPr>
              <a:t>торе</a:t>
            </a:r>
            <a:r>
              <a:rPr lang="en-US" sz="5199" dirty="0">
                <a:solidFill>
                  <a:srgbClr val="231F20"/>
                </a:solidFill>
                <a:latin typeface="Noticia Text"/>
              </a:rPr>
              <a:t>:</a:t>
            </a:r>
          </a:p>
          <a:p>
            <a:pPr algn="ctr">
              <a:lnSpc>
                <a:spcPts val="7279"/>
              </a:lnSpc>
            </a:pPr>
            <a:endParaRPr lang="en-US" sz="5199" dirty="0">
              <a:solidFill>
                <a:srgbClr val="231F20"/>
              </a:solidFill>
              <a:latin typeface="Noticia Tex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553803"/>
            <a:ext cx="12984766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где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A и B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называют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еще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ординатой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и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абсциссой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соответственно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>
            <a:off x="16723934" y="4709973"/>
            <a:ext cx="979160" cy="906642"/>
          </a:xfrm>
          <a:custGeom>
            <a:avLst/>
            <a:gdLst/>
            <a:ahLst/>
            <a:cxnLst/>
            <a:rect l="l" t="t" r="r" b="b"/>
            <a:pathLst>
              <a:path w="979160" h="906642">
                <a:moveTo>
                  <a:pt x="0" y="0"/>
                </a:moveTo>
                <a:lnTo>
                  <a:pt x="979160" y="0"/>
                </a:lnTo>
                <a:lnTo>
                  <a:pt x="979160" y="906642"/>
                </a:lnTo>
                <a:lnTo>
                  <a:pt x="0" y="90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227" t="-8519" r="-20847" b="-1947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212354" y="4472376"/>
            <a:ext cx="13863292" cy="1342247"/>
          </a:xfrm>
          <a:custGeom>
            <a:avLst/>
            <a:gdLst/>
            <a:ahLst/>
            <a:cxnLst/>
            <a:rect l="l" t="t" r="r" b="b"/>
            <a:pathLst>
              <a:path w="13863292" h="1342247">
                <a:moveTo>
                  <a:pt x="0" y="0"/>
                </a:moveTo>
                <a:lnTo>
                  <a:pt x="13863292" y="0"/>
                </a:lnTo>
                <a:lnTo>
                  <a:pt x="13863292" y="1342248"/>
                </a:lnTo>
                <a:lnTo>
                  <a:pt x="0" y="1342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8" r="-79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4906" y="952500"/>
            <a:ext cx="17118189" cy="3684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При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фиксированном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ω (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частота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)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важную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роль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при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исследовании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модели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Джозефсона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играет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величина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ρ(B, A, ω)   –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число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вращения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векторного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поля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(2)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записанного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в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виде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Canva Sans"/>
              </a:rPr>
              <a:t>системы</a:t>
            </a:r>
            <a:r>
              <a:rPr lang="en-US" sz="4200" dirty="0">
                <a:solidFill>
                  <a:srgbClr val="000000"/>
                </a:solidFill>
                <a:latin typeface="Canva Sans"/>
              </a:rPr>
              <a:t>:</a:t>
            </a:r>
          </a:p>
          <a:p>
            <a:pPr algn="ctr">
              <a:lnSpc>
                <a:spcPts val="5880"/>
              </a:lnSpc>
            </a:pPr>
            <a:endParaRPr lang="en-US" sz="4200" dirty="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553803"/>
            <a:ext cx="16674394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где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z=t.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Уравнение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(4)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есть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третье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уравнение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 </a:t>
            </a:r>
            <a:r>
              <a:rPr lang="en-US" sz="2999" dirty="0" err="1">
                <a:solidFill>
                  <a:srgbClr val="000000"/>
                </a:solidFill>
                <a:latin typeface="Noticia Text"/>
              </a:rPr>
              <a:t>Пенлеве</a:t>
            </a:r>
            <a:r>
              <a:rPr lang="en-US" sz="2999" dirty="0">
                <a:solidFill>
                  <a:srgbClr val="000000"/>
                </a:solidFill>
                <a:latin typeface="Noticia Text"/>
              </a:rPr>
              <a:t>.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Noticia Tex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699408" y="5286521"/>
            <a:ext cx="1003686" cy="949724"/>
          </a:xfrm>
          <a:custGeom>
            <a:avLst/>
            <a:gdLst/>
            <a:ahLst/>
            <a:cxnLst/>
            <a:rect l="l" t="t" r="r" b="b"/>
            <a:pathLst>
              <a:path w="1003686" h="949724">
                <a:moveTo>
                  <a:pt x="0" y="0"/>
                </a:moveTo>
                <a:lnTo>
                  <a:pt x="1003686" y="0"/>
                </a:lnTo>
                <a:lnTo>
                  <a:pt x="1003686" y="949724"/>
                </a:lnTo>
                <a:lnTo>
                  <a:pt x="0" y="9497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903" t="-11931" b="-738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42447" y="4889443"/>
            <a:ext cx="12403105" cy="1743881"/>
          </a:xfrm>
          <a:custGeom>
            <a:avLst/>
            <a:gdLst/>
            <a:ahLst/>
            <a:cxnLst/>
            <a:rect l="l" t="t" r="r" b="b"/>
            <a:pathLst>
              <a:path w="12403105" h="1743881">
                <a:moveTo>
                  <a:pt x="0" y="0"/>
                </a:moveTo>
                <a:lnTo>
                  <a:pt x="12403106" y="0"/>
                </a:lnTo>
                <a:lnTo>
                  <a:pt x="12403106" y="1743880"/>
                </a:lnTo>
                <a:lnTo>
                  <a:pt x="0" y="1743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84906" y="952500"/>
            <a:ext cx="17118189" cy="4333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000000"/>
                </a:solidFill>
                <a:latin typeface="Canva Sans"/>
              </a:rPr>
              <a:t> С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физической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точки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зрения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число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вращения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(2)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имеет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смысл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среднего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напряжения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на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продолжительном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временном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интервале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.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При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определенном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значении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l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асимптотика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решений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(2)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совпадает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с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асимптотикой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однопараметрического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семейства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решений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:</a:t>
            </a:r>
          </a:p>
          <a:p>
            <a:pPr algn="ctr">
              <a:lnSpc>
                <a:spcPts val="5880"/>
              </a:lnSpc>
            </a:pPr>
            <a:endParaRPr lang="en-US" sz="4100" dirty="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501091" y="7283857"/>
            <a:ext cx="758209" cy="773374"/>
          </a:xfrm>
          <a:custGeom>
            <a:avLst/>
            <a:gdLst/>
            <a:ahLst/>
            <a:cxnLst/>
            <a:rect l="l" t="t" r="r" b="b"/>
            <a:pathLst>
              <a:path w="758209" h="773374">
                <a:moveTo>
                  <a:pt x="0" y="0"/>
                </a:moveTo>
                <a:lnTo>
                  <a:pt x="758209" y="0"/>
                </a:lnTo>
                <a:lnTo>
                  <a:pt x="758209" y="773373"/>
                </a:lnTo>
                <a:lnTo>
                  <a:pt x="0" y="7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868610" y="6839262"/>
            <a:ext cx="2550780" cy="1662562"/>
          </a:xfrm>
          <a:custGeom>
            <a:avLst/>
            <a:gdLst/>
            <a:ahLst/>
            <a:cxnLst/>
            <a:rect l="l" t="t" r="r" b="b"/>
            <a:pathLst>
              <a:path w="2550780" h="1662562">
                <a:moveTo>
                  <a:pt x="0" y="0"/>
                </a:moveTo>
                <a:lnTo>
                  <a:pt x="2550780" y="0"/>
                </a:lnTo>
                <a:lnTo>
                  <a:pt x="2550780" y="1662563"/>
                </a:lnTo>
                <a:lnTo>
                  <a:pt x="0" y="16625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5419403"/>
            <a:ext cx="13581342" cy="141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решением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(4),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определяемая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формулой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:</a:t>
            </a:r>
          </a:p>
          <a:p>
            <a:pPr algn="ctr">
              <a:lnSpc>
                <a:spcPts val="5740"/>
              </a:lnSpc>
            </a:pPr>
            <a:endParaRPr lang="en-US" sz="4100" dirty="0">
              <a:solidFill>
                <a:srgbClr val="000000"/>
              </a:solidFill>
              <a:latin typeface="Canva Sans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6501091" y="2108108"/>
            <a:ext cx="758209" cy="786821"/>
          </a:xfrm>
          <a:custGeom>
            <a:avLst/>
            <a:gdLst/>
            <a:ahLst/>
            <a:cxnLst/>
            <a:rect l="l" t="t" r="r" b="b"/>
            <a:pathLst>
              <a:path w="758209" h="786821">
                <a:moveTo>
                  <a:pt x="0" y="0"/>
                </a:moveTo>
                <a:lnTo>
                  <a:pt x="758209" y="0"/>
                </a:lnTo>
                <a:lnTo>
                  <a:pt x="758209" y="786821"/>
                </a:lnTo>
                <a:lnTo>
                  <a:pt x="0" y="786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262609" y="2001367"/>
            <a:ext cx="13762782" cy="1000302"/>
          </a:xfrm>
          <a:custGeom>
            <a:avLst/>
            <a:gdLst/>
            <a:ahLst/>
            <a:cxnLst/>
            <a:rect l="l" t="t" r="r" b="b"/>
            <a:pathLst>
              <a:path w="13762782" h="1000302">
                <a:moveTo>
                  <a:pt x="0" y="0"/>
                </a:moveTo>
                <a:lnTo>
                  <a:pt x="13762782" y="0"/>
                </a:lnTo>
                <a:lnTo>
                  <a:pt x="13762782" y="1000303"/>
                </a:lnTo>
                <a:lnTo>
                  <a:pt x="0" y="10003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11498" y="551918"/>
            <a:ext cx="17118189" cy="9222752"/>
            <a:chOff x="0" y="0"/>
            <a:chExt cx="4508494" cy="24290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08494" cy="2429038"/>
            </a:xfrm>
            <a:custGeom>
              <a:avLst/>
              <a:gdLst/>
              <a:ahLst/>
              <a:cxnLst/>
              <a:rect l="l" t="t" r="r" b="b"/>
              <a:pathLst>
                <a:path w="4508494" h="2429038">
                  <a:moveTo>
                    <a:pt x="0" y="0"/>
                  </a:moveTo>
                  <a:lnTo>
                    <a:pt x="4508494" y="0"/>
                  </a:lnTo>
                  <a:lnTo>
                    <a:pt x="4508494" y="2429038"/>
                  </a:lnTo>
                  <a:lnTo>
                    <a:pt x="0" y="2429038"/>
                  </a:lnTo>
                  <a:close/>
                </a:path>
              </a:pathLst>
            </a:custGeom>
            <a:solidFill>
              <a:srgbClr val="CCADCC">
                <a:alpha val="5882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08494" cy="2467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553803"/>
            <a:ext cx="16674394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Noticia Text"/>
              </a:rPr>
              <a:t>с наборами параметров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00000"/>
              </a:solidFill>
              <a:latin typeface="Noticia Text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844967" y="7370176"/>
            <a:ext cx="7041860" cy="920243"/>
          </a:xfrm>
          <a:custGeom>
            <a:avLst/>
            <a:gdLst/>
            <a:ahLst/>
            <a:cxnLst/>
            <a:rect l="l" t="t" r="r" b="b"/>
            <a:pathLst>
              <a:path w="7041860" h="920243">
                <a:moveTo>
                  <a:pt x="0" y="0"/>
                </a:moveTo>
                <a:lnTo>
                  <a:pt x="7041860" y="0"/>
                </a:lnTo>
                <a:lnTo>
                  <a:pt x="7041860" y="920243"/>
                </a:lnTo>
                <a:lnTo>
                  <a:pt x="0" y="92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732099" y="4723574"/>
            <a:ext cx="970996" cy="879442"/>
          </a:xfrm>
          <a:custGeom>
            <a:avLst/>
            <a:gdLst/>
            <a:ahLst/>
            <a:cxnLst/>
            <a:rect l="l" t="t" r="r" b="b"/>
            <a:pathLst>
              <a:path w="970996" h="879442">
                <a:moveTo>
                  <a:pt x="0" y="0"/>
                </a:moveTo>
                <a:lnTo>
                  <a:pt x="970995" y="0"/>
                </a:lnTo>
                <a:lnTo>
                  <a:pt x="970995" y="879441"/>
                </a:lnTo>
                <a:lnTo>
                  <a:pt x="0" y="8794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166" b="-1186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26505" y="4389608"/>
            <a:ext cx="13234990" cy="1507784"/>
          </a:xfrm>
          <a:custGeom>
            <a:avLst/>
            <a:gdLst/>
            <a:ahLst/>
            <a:cxnLst/>
            <a:rect l="l" t="t" r="r" b="b"/>
            <a:pathLst>
              <a:path w="13234990" h="1507784">
                <a:moveTo>
                  <a:pt x="0" y="0"/>
                </a:moveTo>
                <a:lnTo>
                  <a:pt x="13234990" y="0"/>
                </a:lnTo>
                <a:lnTo>
                  <a:pt x="13234990" y="1507784"/>
                </a:lnTo>
                <a:lnTo>
                  <a:pt x="0" y="1507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84906" y="952500"/>
            <a:ext cx="17118189" cy="288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000000"/>
                </a:solidFill>
                <a:latin typeface="Canva Sans"/>
              </a:rPr>
              <a:t> 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Характерной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особенностью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системы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(4)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является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то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,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что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она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эквивалентна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00" dirty="0" err="1">
                <a:solidFill>
                  <a:srgbClr val="000000"/>
                </a:solidFill>
                <a:latin typeface="Canva Sans"/>
              </a:rPr>
              <a:t>уравнению</a:t>
            </a:r>
            <a:r>
              <a:rPr lang="en-US" sz="4100" dirty="0">
                <a:solidFill>
                  <a:srgbClr val="000000"/>
                </a:solidFill>
                <a:latin typeface="Canva Sans"/>
              </a:rPr>
              <a:t>:</a:t>
            </a:r>
          </a:p>
          <a:p>
            <a:pPr algn="ctr">
              <a:lnSpc>
                <a:spcPts val="5740"/>
              </a:lnSpc>
            </a:pPr>
            <a:endParaRPr lang="en-US" sz="4100" dirty="0">
              <a:solidFill>
                <a:srgbClr val="000000"/>
              </a:solidFill>
              <a:latin typeface="Canva Sans"/>
            </a:endParaRPr>
          </a:p>
          <a:p>
            <a:pPr algn="ctr">
              <a:lnSpc>
                <a:spcPts val="5880"/>
              </a:lnSpc>
            </a:pPr>
            <a:endParaRPr lang="en-US" sz="4100" dirty="0">
              <a:solidFill>
                <a:srgbClr val="000000"/>
              </a:solidFill>
              <a:latin typeface="Canv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1028700"/>
            <a:ext cx="20087931" cy="8229600"/>
            <a:chOff x="0" y="0"/>
            <a:chExt cx="7137594" cy="29241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924121"/>
            </a:xfrm>
            <a:custGeom>
              <a:avLst/>
              <a:gdLst/>
              <a:ahLst/>
              <a:cxnLst/>
              <a:rect l="l" t="t" r="r" b="b"/>
              <a:pathLst>
                <a:path w="7137595" h="292412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916413"/>
                  </a:lnTo>
                  <a:cubicBezTo>
                    <a:pt x="7137595" y="2918458"/>
                    <a:pt x="7136782" y="2920418"/>
                    <a:pt x="7135337" y="2921864"/>
                  </a:cubicBezTo>
                  <a:cubicBezTo>
                    <a:pt x="7133892" y="2923309"/>
                    <a:pt x="7131931" y="2924121"/>
                    <a:pt x="7129887" y="2924121"/>
                  </a:cubicBezTo>
                  <a:lnTo>
                    <a:pt x="7708" y="2924121"/>
                  </a:lnTo>
                  <a:cubicBezTo>
                    <a:pt x="3451" y="2924121"/>
                    <a:pt x="0" y="2920670"/>
                    <a:pt x="0" y="291641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95269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1503731"/>
            <a:ext cx="19268478" cy="7279538"/>
            <a:chOff x="0" y="0"/>
            <a:chExt cx="5074826" cy="19172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917245"/>
            </a:xfrm>
            <a:custGeom>
              <a:avLst/>
              <a:gdLst/>
              <a:ahLst/>
              <a:cxnLst/>
              <a:rect l="l" t="t" r="r" b="b"/>
              <a:pathLst>
                <a:path w="5074826" h="1917245">
                  <a:moveTo>
                    <a:pt x="0" y="0"/>
                  </a:moveTo>
                  <a:lnTo>
                    <a:pt x="5074826" y="0"/>
                  </a:lnTo>
                  <a:lnTo>
                    <a:pt x="5074826" y="1917245"/>
                  </a:lnTo>
                  <a:lnTo>
                    <a:pt x="0" y="1917245"/>
                  </a:lnTo>
                  <a:close/>
                </a:path>
              </a:pathLst>
            </a:custGeom>
            <a:solidFill>
              <a:srgbClr val="FAD1B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955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1767713"/>
            <a:ext cx="19268478" cy="6670101"/>
            <a:chOff x="0" y="0"/>
            <a:chExt cx="5074826" cy="175673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756734"/>
            </a:xfrm>
            <a:custGeom>
              <a:avLst/>
              <a:gdLst/>
              <a:ahLst/>
              <a:cxnLst/>
              <a:rect l="l" t="t" r="r" b="b"/>
              <a:pathLst>
                <a:path w="5074826" h="1756734">
                  <a:moveTo>
                    <a:pt x="0" y="0"/>
                  </a:moveTo>
                  <a:lnTo>
                    <a:pt x="5074826" y="0"/>
                  </a:lnTo>
                  <a:lnTo>
                    <a:pt x="5074826" y="1756734"/>
                  </a:lnTo>
                  <a:lnTo>
                    <a:pt x="0" y="1756734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7948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6841" y="2133946"/>
            <a:ext cx="18171159" cy="576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Canva Sans"/>
              </a:rPr>
              <a:t>Уравнение</a:t>
            </a:r>
            <a:r>
              <a:rPr lang="en-US" sz="3799" dirty="0">
                <a:solidFill>
                  <a:srgbClr val="000000"/>
                </a:solidFill>
                <a:latin typeface="Canva Sans"/>
              </a:rPr>
              <a:t> (5) </a:t>
            </a:r>
            <a:r>
              <a:rPr lang="en-US" sz="3799" dirty="0" err="1">
                <a:solidFill>
                  <a:srgbClr val="000000"/>
                </a:solidFill>
                <a:latin typeface="Canva Sans"/>
              </a:rPr>
              <a:t>есть</a:t>
            </a:r>
            <a:r>
              <a:rPr lang="en-US" sz="37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Canva Sans"/>
              </a:rPr>
              <a:t>пятое</a:t>
            </a:r>
            <a:r>
              <a:rPr lang="en-US" sz="37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Canva Sans"/>
              </a:rPr>
              <a:t>уравнение</a:t>
            </a:r>
            <a:r>
              <a:rPr lang="en-US" sz="37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3799" dirty="0" err="1">
                <a:solidFill>
                  <a:srgbClr val="000000"/>
                </a:solidFill>
                <a:latin typeface="Canva Sans"/>
              </a:rPr>
              <a:t>Пенлеве</a:t>
            </a:r>
            <a:r>
              <a:rPr lang="en-US" sz="3799" dirty="0">
                <a:solidFill>
                  <a:srgbClr val="000000"/>
                </a:solidFill>
                <a:latin typeface="Canva Sans"/>
              </a:rPr>
              <a:t>.</a:t>
            </a:r>
          </a:p>
          <a:p>
            <a:pPr algn="ctr">
              <a:lnSpc>
                <a:spcPts val="5319"/>
              </a:lnSpc>
            </a:pPr>
            <a:endParaRPr lang="en-US" sz="3799" dirty="0">
              <a:solidFill>
                <a:srgbClr val="000000"/>
              </a:solidFill>
              <a:latin typeface="Canva Sans"/>
            </a:endParaRPr>
          </a:p>
          <a:p>
            <a:pPr>
              <a:lnSpc>
                <a:spcPts val="5879"/>
              </a:lnSpc>
            </a:pP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Тем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самым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получен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в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явном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виде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новый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случай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связи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между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решением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(4) и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решениями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уравнения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(7) с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наборами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параметров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,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указанными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"/>
              </a:rPr>
              <a:t>выше</a:t>
            </a:r>
            <a:r>
              <a:rPr lang="en-US" sz="4199" dirty="0">
                <a:solidFill>
                  <a:srgbClr val="000000"/>
                </a:solidFill>
                <a:latin typeface="Canva Sans"/>
              </a:rPr>
              <a:t>.</a:t>
            </a:r>
          </a:p>
          <a:p>
            <a:pPr>
              <a:lnSpc>
                <a:spcPts val="5879"/>
              </a:lnSpc>
            </a:pPr>
            <a:endParaRPr lang="en-US" sz="4199" dirty="0">
              <a:solidFill>
                <a:srgbClr val="000000"/>
              </a:solidFill>
              <a:latin typeface="Canva Sans"/>
            </a:endParaRPr>
          </a:p>
          <a:p>
            <a:pPr algn="ctr">
              <a:lnSpc>
                <a:spcPts val="5879"/>
              </a:lnSpc>
            </a:pPr>
            <a:r>
              <a:rPr lang="en-US" sz="4199" dirty="0">
                <a:solidFill>
                  <a:srgbClr val="000000"/>
                </a:solidFill>
                <a:latin typeface="Canva Sans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Данный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пример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является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ярким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примером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плодотворного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взаимодействия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физики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 и </a:t>
            </a:r>
            <a:r>
              <a:rPr lang="en-US" sz="4199" dirty="0" err="1">
                <a:solidFill>
                  <a:srgbClr val="000000"/>
                </a:solidFill>
                <a:latin typeface="Canva Sans Bold"/>
              </a:rPr>
              <a:t>математики</a:t>
            </a:r>
            <a:r>
              <a:rPr lang="en-US" sz="4199" dirty="0">
                <a:solidFill>
                  <a:srgbClr val="000000"/>
                </a:solidFill>
                <a:latin typeface="Canva Sans Bold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54188" y="-4253626"/>
            <a:ext cx="15543267" cy="20724356"/>
          </a:xfrm>
          <a:custGeom>
            <a:avLst/>
            <a:gdLst/>
            <a:ahLst/>
            <a:cxnLst/>
            <a:rect l="l" t="t" r="r" b="b"/>
            <a:pathLst>
              <a:path w="15543267" h="20724356">
                <a:moveTo>
                  <a:pt x="0" y="0"/>
                </a:moveTo>
                <a:lnTo>
                  <a:pt x="15543267" y="0"/>
                </a:lnTo>
                <a:lnTo>
                  <a:pt x="15543267" y="20724356"/>
                </a:lnTo>
                <a:lnTo>
                  <a:pt x="0" y="2072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899965" y="2170468"/>
            <a:ext cx="20087931" cy="5946063"/>
            <a:chOff x="0" y="0"/>
            <a:chExt cx="7137594" cy="21127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137595" cy="2112741"/>
            </a:xfrm>
            <a:custGeom>
              <a:avLst/>
              <a:gdLst/>
              <a:ahLst/>
              <a:cxnLst/>
              <a:rect l="l" t="t" r="r" b="b"/>
              <a:pathLst>
                <a:path w="7137595" h="2112741">
                  <a:moveTo>
                    <a:pt x="7708" y="0"/>
                  </a:moveTo>
                  <a:lnTo>
                    <a:pt x="7129887" y="0"/>
                  </a:lnTo>
                  <a:cubicBezTo>
                    <a:pt x="7134144" y="0"/>
                    <a:pt x="7137595" y="3451"/>
                    <a:pt x="7137595" y="7708"/>
                  </a:cubicBezTo>
                  <a:lnTo>
                    <a:pt x="7137595" y="2105033"/>
                  </a:lnTo>
                  <a:cubicBezTo>
                    <a:pt x="7137595" y="2107077"/>
                    <a:pt x="7136782" y="2109038"/>
                    <a:pt x="7135337" y="2110483"/>
                  </a:cubicBezTo>
                  <a:cubicBezTo>
                    <a:pt x="7133892" y="2111928"/>
                    <a:pt x="7131931" y="2112741"/>
                    <a:pt x="7129887" y="2112741"/>
                  </a:cubicBezTo>
                  <a:lnTo>
                    <a:pt x="7708" y="2112741"/>
                  </a:lnTo>
                  <a:cubicBezTo>
                    <a:pt x="3451" y="2112741"/>
                    <a:pt x="0" y="2109290"/>
                    <a:pt x="0" y="2105033"/>
                  </a:cubicBezTo>
                  <a:lnTo>
                    <a:pt x="0" y="7708"/>
                  </a:lnTo>
                  <a:cubicBezTo>
                    <a:pt x="0" y="5664"/>
                    <a:pt x="812" y="3703"/>
                    <a:pt x="2258" y="2258"/>
                  </a:cubicBezTo>
                  <a:cubicBezTo>
                    <a:pt x="3703" y="812"/>
                    <a:pt x="5664" y="0"/>
                    <a:pt x="7708" y="0"/>
                  </a:cubicBezTo>
                  <a:close/>
                </a:path>
              </a:pathLst>
            </a:custGeom>
            <a:solidFill>
              <a:srgbClr val="FFFBEF">
                <a:alpha val="7686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137594" cy="2141316"/>
            </a:xfrm>
            <a:prstGeom prst="rect">
              <a:avLst/>
            </a:prstGeom>
          </p:spPr>
          <p:txBody>
            <a:bodyPr lIns="30996" tIns="30996" rIns="30996" bIns="30996" rtlCol="0" anchor="ctr"/>
            <a:lstStyle/>
            <a:p>
              <a:pPr algn="ctr">
                <a:lnSpc>
                  <a:spcPts val="2228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90239" y="2675578"/>
            <a:ext cx="19268478" cy="4935845"/>
            <a:chOff x="0" y="0"/>
            <a:chExt cx="5074826" cy="12999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74826" cy="1299975"/>
            </a:xfrm>
            <a:custGeom>
              <a:avLst/>
              <a:gdLst/>
              <a:ahLst/>
              <a:cxnLst/>
              <a:rect l="l" t="t" r="r" b="b"/>
              <a:pathLst>
                <a:path w="5074826" h="1299975">
                  <a:moveTo>
                    <a:pt x="0" y="0"/>
                  </a:moveTo>
                  <a:lnTo>
                    <a:pt x="5074826" y="0"/>
                  </a:lnTo>
                  <a:lnTo>
                    <a:pt x="5074826" y="1299975"/>
                  </a:lnTo>
                  <a:lnTo>
                    <a:pt x="0" y="1299975"/>
                  </a:lnTo>
                  <a:close/>
                </a:path>
              </a:pathLst>
            </a:custGeom>
            <a:solidFill>
              <a:srgbClr val="FAD1B4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074826" cy="133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431818" y="3088704"/>
            <a:ext cx="19268478" cy="4198569"/>
            <a:chOff x="0" y="0"/>
            <a:chExt cx="5074826" cy="11057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074826" cy="1105796"/>
            </a:xfrm>
            <a:custGeom>
              <a:avLst/>
              <a:gdLst/>
              <a:ahLst/>
              <a:cxnLst/>
              <a:rect l="l" t="t" r="r" b="b"/>
              <a:pathLst>
                <a:path w="5074826" h="1105796">
                  <a:moveTo>
                    <a:pt x="0" y="0"/>
                  </a:moveTo>
                  <a:lnTo>
                    <a:pt x="5074826" y="0"/>
                  </a:lnTo>
                  <a:lnTo>
                    <a:pt x="5074826" y="1105796"/>
                  </a:lnTo>
                  <a:lnTo>
                    <a:pt x="0" y="1105796"/>
                  </a:lnTo>
                  <a:close/>
                </a:path>
              </a:pathLst>
            </a:custGeom>
            <a:solidFill>
              <a:srgbClr val="FFFBE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074826" cy="1143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4830" y="3590488"/>
            <a:ext cx="15775182" cy="345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87"/>
              </a:lnSpc>
            </a:pPr>
            <a:r>
              <a:rPr lang="en-US" sz="13287">
                <a:solidFill>
                  <a:srgbClr val="231F20"/>
                </a:solidFill>
                <a:latin typeface="Eczar Semi-Bold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895</Words>
  <Application>Microsoft Office PowerPoint</Application>
  <PresentationFormat>Custom</PresentationFormat>
  <Paragraphs>100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Noticia Text</vt:lpstr>
      <vt:lpstr>Canva Sans</vt:lpstr>
      <vt:lpstr>Canva Sans Bold</vt:lpstr>
      <vt:lpstr>Eczar Bold</vt:lpstr>
      <vt:lpstr>Calibri</vt:lpstr>
      <vt:lpstr>Noticia Text Bold</vt:lpstr>
      <vt:lpstr>Eczar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Conjunctions, Prepositions, and Interjections Language Review Game Presentation in Pastel Simple Style</dc:title>
  <dc:creator>Евгений Хаджинов</dc:creator>
  <cp:lastModifiedBy>Евгений Хаджинов</cp:lastModifiedBy>
  <cp:revision>2</cp:revision>
  <dcterms:created xsi:type="dcterms:W3CDTF">2006-08-16T00:00:00Z</dcterms:created>
  <dcterms:modified xsi:type="dcterms:W3CDTF">2024-04-24T20:51:46Z</dcterms:modified>
  <dc:identifier>DAGCYm1tyjo</dc:identifier>
</cp:coreProperties>
</file>